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embeddedFontLst>
    <p:embeddedFont>
      <p:font typeface="Lora" panose="020F0502020204030204" pitchFamily="2" charset="0"/>
      <p:regular r:id="rId13"/>
    </p:embeddedFont>
    <p:embeddedFont>
      <p:font typeface="Source Sans 3" panose="020B0604020202020204" charset="0"/>
      <p:regular r:id="rId14"/>
    </p:embeddedFont>
  </p:embeddedFontLst>
  <p:defaultTextStyle>
    <a:defPPr>
      <a:defRPr lang="es-SV"/>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3" d="100"/>
          <a:sy n="103" d="100"/>
        </p:scale>
        <p:origin x="4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99932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52833"/>
          </a:solidFill>
          <a:ln/>
        </p:spPr>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52833"/>
          </a:solidFill>
          <a:ln/>
        </p:spPr>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52833"/>
          </a:solidFill>
          <a:ln/>
        </p:spPr>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52833"/>
          </a:solidFill>
          <a:ln/>
        </p:spPr>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52833"/>
          </a:solidFill>
          <a:ln/>
        </p:spPr>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52833"/>
          </a:solidFill>
          <a:ln/>
        </p:spPr>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52833"/>
          </a:solidFill>
          <a:ln/>
        </p:spPr>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52833"/>
          </a:solidFill>
          <a:ln/>
        </p:spPr>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52833"/>
          </a:solidFill>
          <a:ln/>
        </p:spPr>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52833"/>
          </a:solidFill>
          <a:ln/>
        </p:spPr>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sv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523577" y="1259086"/>
            <a:ext cx="4667845" cy="769888"/>
          </a:xfrm>
          <a:prstGeom prst="rect">
            <a:avLst/>
          </a:prstGeom>
          <a:noFill/>
          <a:ln/>
        </p:spPr>
        <p:txBody>
          <a:bodyPr wrap="square" lIns="0" tIns="0" rIns="0" bIns="0" rtlCol="0" anchor="t">
            <a:normAutofit/>
          </a:bodyPr>
          <a:lstStyle/>
          <a:p>
            <a:pPr marL="0" indent="0" algn="l">
              <a:lnSpc>
                <a:spcPct val="104000"/>
              </a:lnSpc>
              <a:buNone/>
            </a:pPr>
            <a:r>
              <a:rPr lang="en-US" sz="2400" dirty="0">
                <a:solidFill>
                  <a:srgbClr val="F98AC7"/>
                </a:solidFill>
                <a:latin typeface="Lora" pitchFamily="34" charset="0"/>
                <a:ea typeface="Lora" pitchFamily="34" charset="-122"/>
                <a:cs typeface="Lora" pitchFamily="34" charset="-120"/>
              </a:rPr>
              <a:t>Estándares de Documentación de Software</a:t>
            </a:r>
            <a:endParaRPr lang="en-US" sz="2400" dirty="0"/>
          </a:p>
        </p:txBody>
      </p:sp>
      <p:sp>
        <p:nvSpPr>
          <p:cNvPr id="4" name="Text 1"/>
          <p:cNvSpPr/>
          <p:nvPr/>
        </p:nvSpPr>
        <p:spPr>
          <a:xfrm>
            <a:off x="523577" y="2225278"/>
            <a:ext cx="4667845" cy="1256407"/>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6E5EF"/>
                </a:solidFill>
                <a:latin typeface="Source Sans 3" pitchFamily="34" charset="0"/>
                <a:ea typeface="Source Sans 3" pitchFamily="34" charset="-122"/>
                <a:cs typeface="Source Sans 3" pitchFamily="34" charset="-120"/>
              </a:rPr>
              <a:t>La documentación de software es un pilar fundamental en el desarrollo de sistemas informáticos. Sin ella, los proyectos se vuelven difíciles de mantener, entender y escalar. Existen estándares internacionales reconocidos —como </a:t>
            </a:r>
            <a:r>
              <a:rPr lang="en-US" sz="1000" b="1" dirty="0">
                <a:solidFill>
                  <a:srgbClr val="D6E5EF"/>
                </a:solidFill>
                <a:latin typeface="Source Sans 3" pitchFamily="34" charset="0"/>
                <a:ea typeface="Source Sans 3" pitchFamily="34" charset="-122"/>
                <a:cs typeface="Source Sans 3" pitchFamily="34" charset="-120"/>
              </a:rPr>
              <a:t>IEEE</a:t>
            </a:r>
            <a:r>
              <a:rPr lang="en-US" sz="1000" dirty="0">
                <a:solidFill>
                  <a:srgbClr val="D6E5EF"/>
                </a:solidFill>
                <a:latin typeface="Source Sans 3" pitchFamily="34" charset="0"/>
                <a:ea typeface="Source Sans 3" pitchFamily="34" charset="-122"/>
                <a:cs typeface="Source Sans 3" pitchFamily="34" charset="-120"/>
              </a:rPr>
              <a:t>, </a:t>
            </a:r>
            <a:r>
              <a:rPr lang="en-US" sz="1000" b="1" dirty="0">
                <a:solidFill>
                  <a:srgbClr val="D6E5EF"/>
                </a:solidFill>
                <a:latin typeface="Source Sans 3" pitchFamily="34" charset="0"/>
                <a:ea typeface="Source Sans 3" pitchFamily="34" charset="-122"/>
                <a:cs typeface="Source Sans 3" pitchFamily="34" charset="-120"/>
              </a:rPr>
              <a:t>ISO</a:t>
            </a:r>
            <a:r>
              <a:rPr lang="en-US" sz="1000" dirty="0">
                <a:solidFill>
                  <a:srgbClr val="D6E5EF"/>
                </a:solidFill>
                <a:latin typeface="Source Sans 3" pitchFamily="34" charset="0"/>
                <a:ea typeface="Source Sans 3" pitchFamily="34" charset="-122"/>
                <a:cs typeface="Source Sans 3" pitchFamily="34" charset="-120"/>
              </a:rPr>
              <a:t> y </a:t>
            </a:r>
            <a:r>
              <a:rPr lang="en-US" sz="1000" b="1" dirty="0">
                <a:solidFill>
                  <a:srgbClr val="D6E5EF"/>
                </a:solidFill>
                <a:latin typeface="Source Sans 3" pitchFamily="34" charset="0"/>
                <a:ea typeface="Source Sans 3" pitchFamily="34" charset="-122"/>
                <a:cs typeface="Source Sans 3" pitchFamily="34" charset="-120"/>
              </a:rPr>
              <a:t>W3C</a:t>
            </a:r>
            <a:r>
              <a:rPr lang="en-US" sz="1000" dirty="0">
                <a:solidFill>
                  <a:srgbClr val="D6E5EF"/>
                </a:solidFill>
                <a:latin typeface="Source Sans 3" pitchFamily="34" charset="0"/>
                <a:ea typeface="Source Sans 3" pitchFamily="34" charset="-122"/>
                <a:cs typeface="Source Sans 3" pitchFamily="34" charset="-120"/>
              </a:rPr>
              <a:t>— que proporcionan marcos de trabajo sólidos para garantizar que la documentación sea clara, estructurada y útil para todos los involucrados en el ciclo de vida del software.</a:t>
            </a:r>
            <a:endParaRPr lang="en-US" sz="1000" dirty="0"/>
          </a:p>
        </p:txBody>
      </p:sp>
      <p:sp>
        <p:nvSpPr>
          <p:cNvPr id="5" name="Shape 2"/>
          <p:cNvSpPr/>
          <p:nvPr/>
        </p:nvSpPr>
        <p:spPr>
          <a:xfrm>
            <a:off x="523577" y="3633713"/>
            <a:ext cx="1315120" cy="245938"/>
          </a:xfrm>
          <a:prstGeom prst="roundRect">
            <a:avLst>
              <a:gd name="adj" fmla="val 6388"/>
            </a:avLst>
          </a:prstGeom>
          <a:solidFill>
            <a:srgbClr val="49042A"/>
          </a:solidFill>
          <a:ln/>
        </p:spPr>
      </p:sp>
      <p:sp>
        <p:nvSpPr>
          <p:cNvPr id="6" name="Text 3"/>
          <p:cNvSpPr/>
          <p:nvPr/>
        </p:nvSpPr>
        <p:spPr>
          <a:xfrm>
            <a:off x="602084" y="3672929"/>
            <a:ext cx="1615306" cy="167506"/>
          </a:xfrm>
          <a:prstGeom prst="rect">
            <a:avLst/>
          </a:prstGeom>
          <a:noFill/>
          <a:ln/>
        </p:spPr>
        <p:txBody>
          <a:bodyPr wrap="none" lIns="0" tIns="0" rIns="0" bIns="0" rtlCol="0" anchor="t"/>
          <a:lstStyle/>
          <a:p>
            <a:pPr marL="0" indent="0" algn="l">
              <a:lnSpc>
                <a:spcPct val="133000"/>
              </a:lnSpc>
              <a:buNone/>
            </a:pPr>
            <a:r>
              <a:rPr lang="en-US" sz="800" dirty="0">
                <a:solidFill>
                  <a:srgbClr val="D6E5EF"/>
                </a:solidFill>
                <a:latin typeface="Source Sans 3" pitchFamily="34" charset="0"/>
                <a:ea typeface="Source Sans 3" pitchFamily="34" charset="-122"/>
                <a:cs typeface="Source Sans 3" pitchFamily="34" charset="-120"/>
              </a:rPr>
              <a:t>INGENIERÍA DE SOFTWARE</a:t>
            </a:r>
            <a:endParaRPr lang="en-US" sz="800" dirty="0"/>
          </a:p>
        </p:txBody>
      </p:sp>
      <p:sp>
        <p:nvSpPr>
          <p:cNvPr id="7" name="Shape 4"/>
          <p:cNvSpPr/>
          <p:nvPr/>
        </p:nvSpPr>
        <p:spPr>
          <a:xfrm>
            <a:off x="1904107" y="3628951"/>
            <a:ext cx="1597075" cy="255463"/>
          </a:xfrm>
          <a:prstGeom prst="roundRect">
            <a:avLst>
              <a:gd name="adj" fmla="val 6149"/>
            </a:avLst>
          </a:prstGeom>
          <a:noFill/>
          <a:ln w="4763">
            <a:solidFill>
              <a:srgbClr val="F98AC7"/>
            </a:solidFill>
            <a:prstDash val="solid"/>
          </a:ln>
        </p:spPr>
      </p:sp>
      <p:sp>
        <p:nvSpPr>
          <p:cNvPr id="8" name="Text 5"/>
          <p:cNvSpPr/>
          <p:nvPr/>
        </p:nvSpPr>
        <p:spPr>
          <a:xfrm>
            <a:off x="1987376" y="3672929"/>
            <a:ext cx="1887736" cy="167506"/>
          </a:xfrm>
          <a:prstGeom prst="rect">
            <a:avLst/>
          </a:prstGeom>
          <a:noFill/>
          <a:ln/>
        </p:spPr>
        <p:txBody>
          <a:bodyPr wrap="none" lIns="0" tIns="0" rIns="0" bIns="0" rtlCol="0" anchor="t"/>
          <a:lstStyle/>
          <a:p>
            <a:pPr marL="0" indent="0" algn="l">
              <a:lnSpc>
                <a:spcPct val="133000"/>
              </a:lnSpc>
              <a:buNone/>
            </a:pPr>
            <a:r>
              <a:rPr lang="en-US" sz="800" dirty="0">
                <a:solidFill>
                  <a:srgbClr val="F98AC7"/>
                </a:solidFill>
                <a:latin typeface="Source Sans 3" pitchFamily="34" charset="0"/>
                <a:ea typeface="Source Sans 3" pitchFamily="34" charset="-122"/>
                <a:cs typeface="Source Sans 3" pitchFamily="34" charset="-120"/>
              </a:rPr>
              <a:t>ESTÁNDARES INTERNACIONALES</a:t>
            </a:r>
            <a:endParaRPr lang="en-US" sz="800" dirty="0"/>
          </a:p>
        </p:txBody>
      </p:sp>
      <p:sp>
        <p:nvSpPr>
          <p:cNvPr id="9" name="Shape 6"/>
          <p:cNvSpPr/>
          <p:nvPr/>
        </p:nvSpPr>
        <p:spPr>
          <a:xfrm>
            <a:off x="3566592" y="3628951"/>
            <a:ext cx="1361629" cy="255463"/>
          </a:xfrm>
          <a:prstGeom prst="roundRect">
            <a:avLst>
              <a:gd name="adj" fmla="val 6149"/>
            </a:avLst>
          </a:prstGeom>
          <a:noFill/>
          <a:ln w="4763">
            <a:solidFill>
              <a:srgbClr val="F98AC7"/>
            </a:solidFill>
            <a:prstDash val="solid"/>
          </a:ln>
        </p:spPr>
      </p:sp>
      <p:sp>
        <p:nvSpPr>
          <p:cNvPr id="10" name="Text 7"/>
          <p:cNvSpPr/>
          <p:nvPr/>
        </p:nvSpPr>
        <p:spPr>
          <a:xfrm>
            <a:off x="3649861" y="3672929"/>
            <a:ext cx="1652290" cy="167506"/>
          </a:xfrm>
          <a:prstGeom prst="rect">
            <a:avLst/>
          </a:prstGeom>
          <a:noFill/>
          <a:ln/>
        </p:spPr>
        <p:txBody>
          <a:bodyPr wrap="none" lIns="0" tIns="0" rIns="0" bIns="0" rtlCol="0" anchor="t"/>
          <a:lstStyle/>
          <a:p>
            <a:pPr marL="0" indent="0" algn="l">
              <a:lnSpc>
                <a:spcPct val="133000"/>
              </a:lnSpc>
              <a:buNone/>
            </a:pPr>
            <a:r>
              <a:rPr lang="en-US" sz="800" dirty="0">
                <a:solidFill>
                  <a:srgbClr val="F98AC7"/>
                </a:solidFill>
                <a:latin typeface="Source Sans 3" pitchFamily="34" charset="0"/>
                <a:ea typeface="Source Sans 3" pitchFamily="34" charset="-122"/>
                <a:cs typeface="Source Sans 3" pitchFamily="34" charset="-120"/>
              </a:rPr>
              <a:t>DOCUMENTACIÓN TÉCNICA</a:t>
            </a:r>
            <a:endParaRPr lang="en-US" sz="800"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23577" y="634157"/>
            <a:ext cx="6762899" cy="384944"/>
          </a:xfrm>
          <a:prstGeom prst="rect">
            <a:avLst/>
          </a:prstGeom>
          <a:noFill/>
          <a:ln/>
        </p:spPr>
        <p:txBody>
          <a:bodyPr wrap="none" lIns="0" tIns="0" rIns="0" bIns="0" rtlCol="0" anchor="t"/>
          <a:lstStyle/>
          <a:p>
            <a:pPr marL="0" indent="0" algn="l">
              <a:lnSpc>
                <a:spcPct val="104000"/>
              </a:lnSpc>
              <a:buNone/>
            </a:pPr>
            <a:r>
              <a:rPr lang="en-US" sz="2400" dirty="0">
                <a:solidFill>
                  <a:srgbClr val="F98AC7"/>
                </a:solidFill>
                <a:latin typeface="Lora" pitchFamily="34" charset="0"/>
                <a:ea typeface="Lora" pitchFamily="34" charset="-122"/>
                <a:cs typeface="Lora" pitchFamily="34" charset="-120"/>
              </a:rPr>
              <a:t>¿Por qué es fundamental la documentación?</a:t>
            </a:r>
            <a:endParaRPr lang="en-US" sz="2400" dirty="0"/>
          </a:p>
        </p:txBody>
      </p:sp>
      <p:sp>
        <p:nvSpPr>
          <p:cNvPr id="3" name="Text 1"/>
          <p:cNvSpPr/>
          <p:nvPr/>
        </p:nvSpPr>
        <p:spPr>
          <a:xfrm>
            <a:off x="523577" y="1280889"/>
            <a:ext cx="8096845" cy="628204"/>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6E5EF"/>
                </a:solidFill>
                <a:latin typeface="Source Sans 3" pitchFamily="34" charset="0"/>
                <a:ea typeface="Source Sans 3" pitchFamily="34" charset="-122"/>
                <a:cs typeface="Source Sans 3" pitchFamily="34" charset="-120"/>
              </a:rPr>
              <a:t>La documentación no es un trámite burocrático: es la columna vertebral de cualquier proyecto de software bien gestionado. Permite que equipos distribuidos colaboren eficazmente, que nuevos integrantes se incorporen rápidamente y que el conocimiento no se pierda cuando alguien abandona el proyecto.</a:t>
            </a:r>
            <a:endParaRPr lang="en-US" sz="1000" dirty="0"/>
          </a:p>
        </p:txBody>
      </p:sp>
      <p:sp>
        <p:nvSpPr>
          <p:cNvPr id="4" name="Shape 2"/>
          <p:cNvSpPr/>
          <p:nvPr/>
        </p:nvSpPr>
        <p:spPr>
          <a:xfrm>
            <a:off x="523577" y="2056358"/>
            <a:ext cx="3982938" cy="1161008"/>
          </a:xfrm>
          <a:prstGeom prst="roundRect">
            <a:avLst>
              <a:gd name="adj" fmla="val 1691"/>
            </a:avLst>
          </a:prstGeom>
          <a:solidFill>
            <a:srgbClr val="444752"/>
          </a:solidFill>
          <a:ln/>
        </p:spPr>
      </p:sp>
      <p:sp>
        <p:nvSpPr>
          <p:cNvPr id="5" name="Text 3"/>
          <p:cNvSpPr/>
          <p:nvPr/>
        </p:nvSpPr>
        <p:spPr>
          <a:xfrm>
            <a:off x="654472" y="2187253"/>
            <a:ext cx="1540073" cy="19250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Lora" pitchFamily="34" charset="0"/>
                <a:ea typeface="Lora" pitchFamily="34" charset="-122"/>
                <a:cs typeface="Lora" pitchFamily="34" charset="-120"/>
              </a:rPr>
              <a:t>Organización</a:t>
            </a:r>
            <a:endParaRPr lang="en-US" sz="1200" dirty="0"/>
          </a:p>
        </p:txBody>
      </p:sp>
      <p:sp>
        <p:nvSpPr>
          <p:cNvPr id="6" name="Text 4"/>
          <p:cNvSpPr/>
          <p:nvPr/>
        </p:nvSpPr>
        <p:spPr>
          <a:xfrm>
            <a:off x="654472" y="2458269"/>
            <a:ext cx="3721150" cy="628204"/>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6E5EF"/>
                </a:solidFill>
                <a:latin typeface="Source Sans 3" pitchFamily="34" charset="0"/>
                <a:ea typeface="Source Sans 3" pitchFamily="34" charset="-122"/>
                <a:cs typeface="Source Sans 3" pitchFamily="34" charset="-120"/>
              </a:rPr>
              <a:t>Estructura el conocimiento del proyecto de forma lógica y accesible, evitando la dispersión de información crítica entre correos, chats y documentos informales.</a:t>
            </a:r>
            <a:endParaRPr lang="en-US" sz="1000" dirty="0"/>
          </a:p>
        </p:txBody>
      </p:sp>
      <p:sp>
        <p:nvSpPr>
          <p:cNvPr id="7" name="Shape 5"/>
          <p:cNvSpPr/>
          <p:nvPr/>
        </p:nvSpPr>
        <p:spPr>
          <a:xfrm>
            <a:off x="4637410" y="2056358"/>
            <a:ext cx="3983013" cy="1161008"/>
          </a:xfrm>
          <a:prstGeom prst="roundRect">
            <a:avLst>
              <a:gd name="adj" fmla="val 1691"/>
            </a:avLst>
          </a:prstGeom>
          <a:solidFill>
            <a:srgbClr val="444752"/>
          </a:solidFill>
          <a:ln/>
        </p:spPr>
      </p:sp>
      <p:sp>
        <p:nvSpPr>
          <p:cNvPr id="8" name="Text 6"/>
          <p:cNvSpPr/>
          <p:nvPr/>
        </p:nvSpPr>
        <p:spPr>
          <a:xfrm>
            <a:off x="4768304" y="2187253"/>
            <a:ext cx="1540073" cy="19250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Lora" pitchFamily="34" charset="0"/>
                <a:ea typeface="Lora" pitchFamily="34" charset="-122"/>
                <a:cs typeface="Lora" pitchFamily="34" charset="-120"/>
              </a:rPr>
              <a:t>Mantenibilidad</a:t>
            </a:r>
            <a:endParaRPr lang="en-US" sz="1200" dirty="0"/>
          </a:p>
        </p:txBody>
      </p:sp>
      <p:sp>
        <p:nvSpPr>
          <p:cNvPr id="9" name="Text 7"/>
          <p:cNvSpPr/>
          <p:nvPr/>
        </p:nvSpPr>
        <p:spPr>
          <a:xfrm>
            <a:off x="4768304" y="2458269"/>
            <a:ext cx="3721224" cy="628204"/>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6E5EF"/>
                </a:solidFill>
                <a:latin typeface="Source Sans 3" pitchFamily="34" charset="0"/>
                <a:ea typeface="Source Sans 3" pitchFamily="34" charset="-122"/>
                <a:cs typeface="Source Sans 3" pitchFamily="34" charset="-120"/>
              </a:rPr>
              <a:t>Facilita la comprensión del sistema para futuros desarrolladores, reduciendo el tiempo de incorporación y el riesgo de introducir errores al modificar código existente.</a:t>
            </a:r>
            <a:endParaRPr lang="en-US" sz="1000" dirty="0"/>
          </a:p>
        </p:txBody>
      </p:sp>
      <p:sp>
        <p:nvSpPr>
          <p:cNvPr id="10" name="Shape 8"/>
          <p:cNvSpPr/>
          <p:nvPr/>
        </p:nvSpPr>
        <p:spPr>
          <a:xfrm>
            <a:off x="523577" y="3348261"/>
            <a:ext cx="3982938" cy="1161008"/>
          </a:xfrm>
          <a:prstGeom prst="roundRect">
            <a:avLst>
              <a:gd name="adj" fmla="val 1691"/>
            </a:avLst>
          </a:prstGeom>
          <a:solidFill>
            <a:srgbClr val="444752"/>
          </a:solidFill>
          <a:ln/>
        </p:spPr>
      </p:sp>
      <p:sp>
        <p:nvSpPr>
          <p:cNvPr id="11" name="Text 9"/>
          <p:cNvSpPr/>
          <p:nvPr/>
        </p:nvSpPr>
        <p:spPr>
          <a:xfrm>
            <a:off x="654472" y="3479155"/>
            <a:ext cx="1540073" cy="19250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Lora" pitchFamily="34" charset="0"/>
                <a:ea typeface="Lora" pitchFamily="34" charset="-122"/>
                <a:cs typeface="Lora" pitchFamily="34" charset="-120"/>
              </a:rPr>
              <a:t>Calidad</a:t>
            </a:r>
            <a:endParaRPr lang="en-US" sz="1200" dirty="0"/>
          </a:p>
        </p:txBody>
      </p:sp>
      <p:sp>
        <p:nvSpPr>
          <p:cNvPr id="12" name="Text 10"/>
          <p:cNvSpPr/>
          <p:nvPr/>
        </p:nvSpPr>
        <p:spPr>
          <a:xfrm>
            <a:off x="654472" y="3750171"/>
            <a:ext cx="3721150" cy="628204"/>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6E5EF"/>
                </a:solidFill>
                <a:latin typeface="Source Sans 3" pitchFamily="34" charset="0"/>
                <a:ea typeface="Source Sans 3" pitchFamily="34" charset="-122"/>
                <a:cs typeface="Source Sans 3" pitchFamily="34" charset="-120"/>
              </a:rPr>
              <a:t>Los estándares internacionales elevan el nivel de los entregables, asegurando que el software cumpla con expectativas de funcionalidad, seguridad y experiencia de usuario.</a:t>
            </a:r>
            <a:endParaRPr lang="en-US" sz="1000" dirty="0"/>
          </a:p>
        </p:txBody>
      </p:sp>
      <p:sp>
        <p:nvSpPr>
          <p:cNvPr id="13" name="Shape 11"/>
          <p:cNvSpPr/>
          <p:nvPr/>
        </p:nvSpPr>
        <p:spPr>
          <a:xfrm>
            <a:off x="4637410" y="3348261"/>
            <a:ext cx="3983013" cy="1161008"/>
          </a:xfrm>
          <a:prstGeom prst="roundRect">
            <a:avLst>
              <a:gd name="adj" fmla="val 1691"/>
            </a:avLst>
          </a:prstGeom>
          <a:solidFill>
            <a:srgbClr val="444752"/>
          </a:solidFill>
          <a:ln/>
        </p:spPr>
      </p:sp>
      <p:sp>
        <p:nvSpPr>
          <p:cNvPr id="14" name="Text 12"/>
          <p:cNvSpPr/>
          <p:nvPr/>
        </p:nvSpPr>
        <p:spPr>
          <a:xfrm>
            <a:off x="4768304" y="3479155"/>
            <a:ext cx="1540073" cy="19250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Lora" pitchFamily="34" charset="0"/>
                <a:ea typeface="Lora" pitchFamily="34" charset="-122"/>
                <a:cs typeface="Lora" pitchFamily="34" charset="-120"/>
              </a:rPr>
              <a:t>Comunicación</a:t>
            </a:r>
            <a:endParaRPr lang="en-US" sz="1200" dirty="0"/>
          </a:p>
        </p:txBody>
      </p:sp>
      <p:sp>
        <p:nvSpPr>
          <p:cNvPr id="15" name="Text 13"/>
          <p:cNvSpPr/>
          <p:nvPr/>
        </p:nvSpPr>
        <p:spPr>
          <a:xfrm>
            <a:off x="4768304" y="3750171"/>
            <a:ext cx="3721224" cy="628204"/>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6E5EF"/>
                </a:solidFill>
                <a:latin typeface="Source Sans 3" pitchFamily="34" charset="0"/>
                <a:ea typeface="Source Sans 3" pitchFamily="34" charset="-122"/>
                <a:cs typeface="Source Sans 3" pitchFamily="34" charset="-120"/>
              </a:rPr>
              <a:t>Actúa como lenguaje común entre clientes, gestores, desarrolladores y usuarios finales, alineando expectativas y reduciendo malentendidos costosos durante el desarrollo.</a:t>
            </a:r>
            <a:endParaRPr lang="en-US" sz="1000" dirty="0"/>
          </a:p>
        </p:txBody>
      </p:sp>
    </p:spTree>
  </p:cSld>
  <p:clrMapOvr>
    <a:masterClrMapping/>
  </p:clrMapOvr>
  <p:transition spd="slow">
    <p:wheel spokes="1"/>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82724" y="335012"/>
            <a:ext cx="4833119" cy="354955"/>
          </a:xfrm>
          <a:prstGeom prst="rect">
            <a:avLst/>
          </a:prstGeom>
          <a:noFill/>
          <a:ln/>
        </p:spPr>
        <p:txBody>
          <a:bodyPr wrap="none" lIns="0" tIns="0" rIns="0" bIns="0" rtlCol="0" anchor="t"/>
          <a:lstStyle/>
          <a:p>
            <a:pPr marL="0" indent="0" algn="l">
              <a:lnSpc>
                <a:spcPct val="104000"/>
              </a:lnSpc>
              <a:buNone/>
            </a:pPr>
            <a:r>
              <a:rPr lang="en-US" sz="2200" dirty="0">
                <a:solidFill>
                  <a:srgbClr val="F98AC7"/>
                </a:solidFill>
                <a:latin typeface="Lora" pitchFamily="34" charset="0"/>
                <a:ea typeface="Lora" pitchFamily="34" charset="-122"/>
                <a:cs typeface="Lora" pitchFamily="34" charset="-120"/>
              </a:rPr>
              <a:t>IEEE: El Estándar de la Ingeniería</a:t>
            </a:r>
            <a:endParaRPr lang="en-US" sz="2200" dirty="0"/>
          </a:p>
        </p:txBody>
      </p:sp>
      <p:sp>
        <p:nvSpPr>
          <p:cNvPr id="3" name="Shape 1"/>
          <p:cNvSpPr/>
          <p:nvPr/>
        </p:nvSpPr>
        <p:spPr>
          <a:xfrm>
            <a:off x="482724" y="912465"/>
            <a:ext cx="322808" cy="220712"/>
          </a:xfrm>
          <a:prstGeom prst="roundRect">
            <a:avLst>
              <a:gd name="adj" fmla="val 6562"/>
            </a:avLst>
          </a:prstGeom>
          <a:solidFill>
            <a:srgbClr val="49042A"/>
          </a:solidFill>
          <a:ln/>
        </p:spPr>
      </p:sp>
      <p:sp>
        <p:nvSpPr>
          <p:cNvPr id="4" name="Text 2"/>
          <p:cNvSpPr/>
          <p:nvPr/>
        </p:nvSpPr>
        <p:spPr>
          <a:xfrm>
            <a:off x="555129" y="948630"/>
            <a:ext cx="635198" cy="148382"/>
          </a:xfrm>
          <a:prstGeom prst="rect">
            <a:avLst/>
          </a:prstGeom>
          <a:noFill/>
          <a:ln/>
        </p:spPr>
        <p:txBody>
          <a:bodyPr wrap="none" lIns="0" tIns="0" rIns="0" bIns="0" rtlCol="0" anchor="t"/>
          <a:lstStyle/>
          <a:p>
            <a:pPr marL="0" indent="0" algn="l">
              <a:lnSpc>
                <a:spcPct val="128000"/>
              </a:lnSpc>
              <a:buNone/>
            </a:pPr>
            <a:r>
              <a:rPr lang="en-US" sz="750" dirty="0">
                <a:solidFill>
                  <a:srgbClr val="D6E5EF"/>
                </a:solidFill>
                <a:latin typeface="Source Sans 3" pitchFamily="34" charset="0"/>
                <a:ea typeface="Source Sans 3" pitchFamily="34" charset="-122"/>
                <a:cs typeface="Source Sans 3" pitchFamily="34" charset="-120"/>
              </a:rPr>
              <a:t>IEEE</a:t>
            </a:r>
            <a:endParaRPr lang="en-US" sz="750" dirty="0"/>
          </a:p>
        </p:txBody>
      </p:sp>
      <p:sp>
        <p:nvSpPr>
          <p:cNvPr id="5" name="Shape 3"/>
          <p:cNvSpPr/>
          <p:nvPr/>
        </p:nvSpPr>
        <p:spPr>
          <a:xfrm>
            <a:off x="395808" y="1258267"/>
            <a:ext cx="4115916" cy="3550146"/>
          </a:xfrm>
          <a:prstGeom prst="roundRect">
            <a:avLst>
              <a:gd name="adj" fmla="val 510"/>
            </a:avLst>
          </a:prstGeom>
          <a:solidFill>
            <a:srgbClr val="F98AC7"/>
          </a:solidFill>
          <a:ln/>
        </p:spPr>
      </p:sp>
      <p:sp>
        <p:nvSpPr>
          <p:cNvPr id="6" name="Text 4"/>
          <p:cNvSpPr/>
          <p:nvPr/>
        </p:nvSpPr>
        <p:spPr>
          <a:xfrm>
            <a:off x="516434" y="1369516"/>
            <a:ext cx="3612282" cy="177478"/>
          </a:xfrm>
          <a:prstGeom prst="rect">
            <a:avLst/>
          </a:prstGeom>
          <a:noFill/>
          <a:ln/>
        </p:spPr>
        <p:txBody>
          <a:bodyPr wrap="none" lIns="0" tIns="0" rIns="0" bIns="0" rtlCol="0" anchor="t"/>
          <a:lstStyle/>
          <a:p>
            <a:pPr marL="0" indent="0" algn="l">
              <a:lnSpc>
                <a:spcPct val="104000"/>
              </a:lnSpc>
              <a:buNone/>
            </a:pPr>
            <a:r>
              <a:rPr lang="en-US" sz="1100" dirty="0">
                <a:solidFill>
                  <a:srgbClr val="000000"/>
                </a:solidFill>
                <a:latin typeface="Lora" pitchFamily="34" charset="0"/>
                <a:ea typeface="Lora" pitchFamily="34" charset="-122"/>
                <a:cs typeface="Lora" pitchFamily="34" charset="-120"/>
              </a:rPr>
              <a:t>Institute of Electrical and Electronics Engineers</a:t>
            </a:r>
            <a:endParaRPr lang="en-US" sz="1100" dirty="0"/>
          </a:p>
        </p:txBody>
      </p:sp>
      <p:sp>
        <p:nvSpPr>
          <p:cNvPr id="7" name="Text 5"/>
          <p:cNvSpPr/>
          <p:nvPr/>
        </p:nvSpPr>
        <p:spPr>
          <a:xfrm>
            <a:off x="516434" y="1658243"/>
            <a:ext cx="3874666" cy="1213172"/>
          </a:xfrm>
          <a:prstGeom prst="rect">
            <a:avLst/>
          </a:prstGeom>
          <a:noFill/>
          <a:ln/>
        </p:spPr>
        <p:txBody>
          <a:bodyPr wrap="square" lIns="0" tIns="0" rIns="0" bIns="0" rtlCol="0" anchor="t">
            <a:normAutofit/>
          </a:bodyPr>
          <a:lstStyle/>
          <a:p>
            <a:pPr marL="0" indent="0" algn="l">
              <a:lnSpc>
                <a:spcPct val="128000"/>
              </a:lnSpc>
              <a:spcAft>
                <a:spcPts val="750"/>
              </a:spcAft>
              <a:buNone/>
            </a:pPr>
            <a:r>
              <a:rPr lang="en-US" sz="950" dirty="0">
                <a:solidFill>
                  <a:srgbClr val="000000"/>
                </a:solidFill>
                <a:latin typeface="Source Sans 3" pitchFamily="34" charset="0"/>
                <a:ea typeface="Source Sans 3" pitchFamily="34" charset="-122"/>
                <a:cs typeface="Source Sans 3" pitchFamily="34" charset="-120"/>
              </a:rPr>
              <a:t>IEEE es la organización profesional técnica más grande del mundo, con más de 400.000 miembros en 160 países. Desarrolla estándares que regulan desde redes eléctricas hasta protocolos de comunicación y, por supuesto, documentación de software.</a:t>
            </a:r>
            <a:endParaRPr lang="en-US" sz="950" dirty="0"/>
          </a:p>
          <a:p>
            <a:pPr marL="0" indent="0" algn="l">
              <a:lnSpc>
                <a:spcPct val="128000"/>
              </a:lnSpc>
              <a:buNone/>
            </a:pPr>
            <a:r>
              <a:rPr lang="en-US" sz="950" dirty="0">
                <a:solidFill>
                  <a:srgbClr val="000000"/>
                </a:solidFill>
                <a:latin typeface="Source Sans 3" pitchFamily="34" charset="0"/>
                <a:ea typeface="Source Sans 3" pitchFamily="34" charset="-122"/>
                <a:cs typeface="Source Sans 3" pitchFamily="34" charset="-120"/>
              </a:rPr>
              <a:t>Sus normas son ampliamente adoptadas en la industria tecnológica global y sirven como referencia en proyectos de gran escala.</a:t>
            </a:r>
            <a:endParaRPr lang="en-US" sz="950" dirty="0"/>
          </a:p>
        </p:txBody>
      </p:sp>
      <p:sp>
        <p:nvSpPr>
          <p:cNvPr id="8" name="Text 6"/>
          <p:cNvSpPr/>
          <p:nvPr/>
        </p:nvSpPr>
        <p:spPr>
          <a:xfrm>
            <a:off x="4723954" y="1369516"/>
            <a:ext cx="2953122" cy="177478"/>
          </a:xfrm>
          <a:prstGeom prst="rect">
            <a:avLst/>
          </a:prstGeom>
          <a:noFill/>
          <a:ln/>
        </p:spPr>
        <p:txBody>
          <a:bodyPr wrap="none" lIns="0" tIns="0" rIns="0" bIns="0" rtlCol="0" anchor="t"/>
          <a:lstStyle/>
          <a:p>
            <a:pPr marL="0" indent="0" algn="l">
              <a:lnSpc>
                <a:spcPct val="104000"/>
              </a:lnSpc>
              <a:buNone/>
            </a:pPr>
            <a:r>
              <a:rPr lang="en-US" sz="1100" dirty="0">
                <a:solidFill>
                  <a:srgbClr val="F98AC7"/>
                </a:solidFill>
                <a:latin typeface="Lora" pitchFamily="34" charset="0"/>
                <a:ea typeface="Lora" pitchFamily="34" charset="-122"/>
                <a:cs typeface="Lora" pitchFamily="34" charset="-120"/>
              </a:rPr>
              <a:t>Estándares clave para documentación</a:t>
            </a:r>
            <a:endParaRPr lang="en-US" sz="1100" dirty="0"/>
          </a:p>
        </p:txBody>
      </p:sp>
      <p:sp>
        <p:nvSpPr>
          <p:cNvPr id="9" name="Shape 7"/>
          <p:cNvSpPr/>
          <p:nvPr/>
        </p:nvSpPr>
        <p:spPr>
          <a:xfrm>
            <a:off x="4723954" y="1672084"/>
            <a:ext cx="3942085" cy="929580"/>
          </a:xfrm>
          <a:prstGeom prst="roundRect">
            <a:avLst>
              <a:gd name="adj" fmla="val 7378"/>
            </a:avLst>
          </a:prstGeom>
          <a:solidFill>
            <a:srgbClr val="252833"/>
          </a:solidFill>
          <a:ln w="14288">
            <a:solidFill>
              <a:srgbClr val="5D606B"/>
            </a:solidFill>
            <a:prstDash val="solid"/>
          </a:ln>
        </p:spPr>
      </p:sp>
      <p:pic>
        <p:nvPicPr>
          <p:cNvPr id="10" name="Image 0" descr="preencoded.png"/>
          <p:cNvPicPr>
            <a:picLocks noChangeAspect="1"/>
          </p:cNvPicPr>
          <p:nvPr/>
        </p:nvPicPr>
        <p:blipFill>
          <a:blip r:embed="rId3"/>
          <a:stretch>
            <a:fillRect/>
          </a:stretch>
        </p:blipFill>
        <p:spPr>
          <a:xfrm>
            <a:off x="4709666" y="1672084"/>
            <a:ext cx="57150" cy="929580"/>
          </a:xfrm>
          <a:prstGeom prst="rect">
            <a:avLst/>
          </a:prstGeom>
        </p:spPr>
      </p:pic>
      <p:sp>
        <p:nvSpPr>
          <p:cNvPr id="11" name="Text 8"/>
          <p:cNvSpPr/>
          <p:nvPr/>
        </p:nvSpPr>
        <p:spPr>
          <a:xfrm>
            <a:off x="4901729" y="1806997"/>
            <a:ext cx="1419746" cy="177478"/>
          </a:xfrm>
          <a:prstGeom prst="rect">
            <a:avLst/>
          </a:prstGeom>
          <a:noFill/>
          <a:ln/>
        </p:spPr>
        <p:txBody>
          <a:bodyPr wrap="none" lIns="0" tIns="0" rIns="0" bIns="0" rtlCol="0" anchor="t"/>
          <a:lstStyle/>
          <a:p>
            <a:pPr marL="0" indent="0" algn="l">
              <a:lnSpc>
                <a:spcPct val="104000"/>
              </a:lnSpc>
              <a:buNone/>
            </a:pPr>
            <a:r>
              <a:rPr lang="en-US" sz="1100" dirty="0">
                <a:solidFill>
                  <a:srgbClr val="D6E5EF"/>
                </a:solidFill>
                <a:latin typeface="Lora" pitchFamily="34" charset="0"/>
                <a:ea typeface="Lora" pitchFamily="34" charset="-122"/>
                <a:cs typeface="Lora" pitchFamily="34" charset="-120"/>
              </a:rPr>
              <a:t>IEEE 830</a:t>
            </a:r>
            <a:endParaRPr lang="en-US" sz="1100" dirty="0"/>
          </a:p>
        </p:txBody>
      </p:sp>
      <p:sp>
        <p:nvSpPr>
          <p:cNvPr id="12" name="Text 9"/>
          <p:cNvSpPr/>
          <p:nvPr/>
        </p:nvSpPr>
        <p:spPr>
          <a:xfrm>
            <a:off x="4901729" y="2095723"/>
            <a:ext cx="3629397" cy="371029"/>
          </a:xfrm>
          <a:prstGeom prst="rect">
            <a:avLst/>
          </a:prstGeom>
          <a:noFill/>
          <a:ln/>
        </p:spPr>
        <p:txBody>
          <a:bodyPr wrap="square" lIns="0" tIns="0" rIns="0" bIns="0" rtlCol="0" anchor="t">
            <a:normAutofit/>
          </a:bodyPr>
          <a:lstStyle/>
          <a:p>
            <a:pPr marL="0" indent="0" algn="l">
              <a:lnSpc>
                <a:spcPct val="128000"/>
              </a:lnSpc>
              <a:buNone/>
            </a:pPr>
            <a:r>
              <a:rPr lang="en-US" sz="950" dirty="0">
                <a:solidFill>
                  <a:srgbClr val="D6E5EF"/>
                </a:solidFill>
                <a:latin typeface="Source Sans 3" pitchFamily="34" charset="0"/>
                <a:ea typeface="Source Sans 3" pitchFamily="34" charset="-122"/>
                <a:cs typeface="Source Sans 3" pitchFamily="34" charset="-120"/>
              </a:rPr>
              <a:t>Especificación de Requerimientos de Software (SRS). Define cómo documentar qué debe hacer el sistema.</a:t>
            </a:r>
            <a:endParaRPr lang="en-US" sz="950" dirty="0"/>
          </a:p>
        </p:txBody>
      </p:sp>
      <p:sp>
        <p:nvSpPr>
          <p:cNvPr id="13" name="Shape 10"/>
          <p:cNvSpPr/>
          <p:nvPr/>
        </p:nvSpPr>
        <p:spPr>
          <a:xfrm>
            <a:off x="4723954" y="2712913"/>
            <a:ext cx="3942085" cy="929580"/>
          </a:xfrm>
          <a:prstGeom prst="roundRect">
            <a:avLst>
              <a:gd name="adj" fmla="val 7378"/>
            </a:avLst>
          </a:prstGeom>
          <a:solidFill>
            <a:srgbClr val="252833"/>
          </a:solidFill>
          <a:ln w="14288">
            <a:solidFill>
              <a:srgbClr val="5D606B"/>
            </a:solidFill>
            <a:prstDash val="solid"/>
          </a:ln>
        </p:spPr>
      </p:sp>
      <p:pic>
        <p:nvPicPr>
          <p:cNvPr id="14" name="Image 1" descr="preencoded.png"/>
          <p:cNvPicPr>
            <a:picLocks noChangeAspect="1"/>
          </p:cNvPicPr>
          <p:nvPr/>
        </p:nvPicPr>
        <p:blipFill>
          <a:blip r:embed="rId3"/>
          <a:stretch>
            <a:fillRect/>
          </a:stretch>
        </p:blipFill>
        <p:spPr>
          <a:xfrm>
            <a:off x="4709666" y="2712913"/>
            <a:ext cx="57150" cy="929580"/>
          </a:xfrm>
          <a:prstGeom prst="rect">
            <a:avLst/>
          </a:prstGeom>
        </p:spPr>
      </p:pic>
      <p:sp>
        <p:nvSpPr>
          <p:cNvPr id="15" name="Text 11"/>
          <p:cNvSpPr/>
          <p:nvPr/>
        </p:nvSpPr>
        <p:spPr>
          <a:xfrm>
            <a:off x="4901729" y="2847826"/>
            <a:ext cx="1419746" cy="177478"/>
          </a:xfrm>
          <a:prstGeom prst="rect">
            <a:avLst/>
          </a:prstGeom>
          <a:noFill/>
          <a:ln/>
        </p:spPr>
        <p:txBody>
          <a:bodyPr wrap="none" lIns="0" tIns="0" rIns="0" bIns="0" rtlCol="0" anchor="t"/>
          <a:lstStyle/>
          <a:p>
            <a:pPr marL="0" indent="0" algn="l">
              <a:lnSpc>
                <a:spcPct val="104000"/>
              </a:lnSpc>
              <a:buNone/>
            </a:pPr>
            <a:r>
              <a:rPr lang="en-US" sz="1100" dirty="0">
                <a:solidFill>
                  <a:srgbClr val="D6E5EF"/>
                </a:solidFill>
                <a:latin typeface="Lora" pitchFamily="34" charset="0"/>
                <a:ea typeface="Lora" pitchFamily="34" charset="-122"/>
                <a:cs typeface="Lora" pitchFamily="34" charset="-120"/>
              </a:rPr>
              <a:t>IEEE 1016</a:t>
            </a:r>
            <a:endParaRPr lang="en-US" sz="1100" dirty="0"/>
          </a:p>
        </p:txBody>
      </p:sp>
      <p:sp>
        <p:nvSpPr>
          <p:cNvPr id="16" name="Text 12"/>
          <p:cNvSpPr/>
          <p:nvPr/>
        </p:nvSpPr>
        <p:spPr>
          <a:xfrm>
            <a:off x="4901729" y="3136553"/>
            <a:ext cx="3629397" cy="371029"/>
          </a:xfrm>
          <a:prstGeom prst="rect">
            <a:avLst/>
          </a:prstGeom>
          <a:noFill/>
          <a:ln/>
        </p:spPr>
        <p:txBody>
          <a:bodyPr wrap="square" lIns="0" tIns="0" rIns="0" bIns="0" rtlCol="0" anchor="t">
            <a:normAutofit/>
          </a:bodyPr>
          <a:lstStyle/>
          <a:p>
            <a:pPr marL="0" indent="0" algn="l">
              <a:lnSpc>
                <a:spcPct val="128000"/>
              </a:lnSpc>
              <a:buNone/>
            </a:pPr>
            <a:r>
              <a:rPr lang="en-US" sz="950" dirty="0">
                <a:solidFill>
                  <a:srgbClr val="D6E5EF"/>
                </a:solidFill>
                <a:latin typeface="Source Sans 3" pitchFamily="34" charset="0"/>
                <a:ea typeface="Source Sans 3" pitchFamily="34" charset="-122"/>
                <a:cs typeface="Source Sans 3" pitchFamily="34" charset="-120"/>
              </a:rPr>
              <a:t>Descripción del Diseño de Software (SDD). Establece cómo documentar la arquitectura interna del sistema.</a:t>
            </a:r>
            <a:endParaRPr lang="en-US" sz="950" dirty="0"/>
          </a:p>
        </p:txBody>
      </p:sp>
      <p:sp>
        <p:nvSpPr>
          <p:cNvPr id="17" name="Shape 13"/>
          <p:cNvSpPr/>
          <p:nvPr/>
        </p:nvSpPr>
        <p:spPr>
          <a:xfrm>
            <a:off x="4723954" y="3753743"/>
            <a:ext cx="3942085" cy="929580"/>
          </a:xfrm>
          <a:prstGeom prst="roundRect">
            <a:avLst>
              <a:gd name="adj" fmla="val 7378"/>
            </a:avLst>
          </a:prstGeom>
          <a:solidFill>
            <a:srgbClr val="252833"/>
          </a:solidFill>
          <a:ln w="14288">
            <a:solidFill>
              <a:srgbClr val="5D606B"/>
            </a:solidFill>
            <a:prstDash val="solid"/>
          </a:ln>
        </p:spPr>
      </p:sp>
      <p:pic>
        <p:nvPicPr>
          <p:cNvPr id="18" name="Image 2" descr="preencoded.png"/>
          <p:cNvPicPr>
            <a:picLocks noChangeAspect="1"/>
          </p:cNvPicPr>
          <p:nvPr/>
        </p:nvPicPr>
        <p:blipFill>
          <a:blip r:embed="rId3"/>
          <a:stretch>
            <a:fillRect/>
          </a:stretch>
        </p:blipFill>
        <p:spPr>
          <a:xfrm>
            <a:off x="4709666" y="3753743"/>
            <a:ext cx="57150" cy="929580"/>
          </a:xfrm>
          <a:prstGeom prst="rect">
            <a:avLst/>
          </a:prstGeom>
        </p:spPr>
      </p:pic>
      <p:sp>
        <p:nvSpPr>
          <p:cNvPr id="19" name="Text 14"/>
          <p:cNvSpPr/>
          <p:nvPr/>
        </p:nvSpPr>
        <p:spPr>
          <a:xfrm>
            <a:off x="4901729" y="3888656"/>
            <a:ext cx="1419746" cy="177478"/>
          </a:xfrm>
          <a:prstGeom prst="rect">
            <a:avLst/>
          </a:prstGeom>
          <a:noFill/>
          <a:ln/>
        </p:spPr>
        <p:txBody>
          <a:bodyPr wrap="none" lIns="0" tIns="0" rIns="0" bIns="0" rtlCol="0" anchor="t"/>
          <a:lstStyle/>
          <a:p>
            <a:pPr marL="0" indent="0" algn="l">
              <a:lnSpc>
                <a:spcPct val="104000"/>
              </a:lnSpc>
              <a:buNone/>
            </a:pPr>
            <a:r>
              <a:rPr lang="en-US" sz="1100" dirty="0">
                <a:solidFill>
                  <a:srgbClr val="D6E5EF"/>
                </a:solidFill>
                <a:latin typeface="Lora" pitchFamily="34" charset="0"/>
                <a:ea typeface="Lora" pitchFamily="34" charset="-122"/>
                <a:cs typeface="Lora" pitchFamily="34" charset="-120"/>
              </a:rPr>
              <a:t>IEEE 1028</a:t>
            </a:r>
            <a:endParaRPr lang="en-US" sz="1100" dirty="0"/>
          </a:p>
        </p:txBody>
      </p:sp>
      <p:sp>
        <p:nvSpPr>
          <p:cNvPr id="20" name="Text 15"/>
          <p:cNvSpPr/>
          <p:nvPr/>
        </p:nvSpPr>
        <p:spPr>
          <a:xfrm>
            <a:off x="4901729" y="4177382"/>
            <a:ext cx="3629397" cy="371029"/>
          </a:xfrm>
          <a:prstGeom prst="rect">
            <a:avLst/>
          </a:prstGeom>
          <a:noFill/>
          <a:ln/>
        </p:spPr>
        <p:txBody>
          <a:bodyPr wrap="square" lIns="0" tIns="0" rIns="0" bIns="0" rtlCol="0" anchor="t">
            <a:normAutofit/>
          </a:bodyPr>
          <a:lstStyle/>
          <a:p>
            <a:pPr marL="0" indent="0" algn="l">
              <a:lnSpc>
                <a:spcPct val="128000"/>
              </a:lnSpc>
              <a:buNone/>
            </a:pPr>
            <a:r>
              <a:rPr lang="en-US" sz="950" dirty="0">
                <a:solidFill>
                  <a:srgbClr val="D6E5EF"/>
                </a:solidFill>
                <a:latin typeface="Source Sans 3" pitchFamily="34" charset="0"/>
                <a:ea typeface="Source Sans 3" pitchFamily="34" charset="-122"/>
                <a:cs typeface="Source Sans 3" pitchFamily="34" charset="-120"/>
              </a:rPr>
              <a:t>Revisiones y auditorías de software. Guía los procesos de validación de la documentación.</a:t>
            </a:r>
            <a:endParaRPr lang="en-US" sz="950" dirty="0"/>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76660" y="288354"/>
            <a:ext cx="6928396" cy="300782"/>
          </a:xfrm>
          <a:prstGeom prst="rect">
            <a:avLst/>
          </a:prstGeom>
          <a:noFill/>
          <a:ln/>
        </p:spPr>
        <p:txBody>
          <a:bodyPr wrap="none" lIns="0" tIns="0" rIns="0" bIns="0" rtlCol="0" anchor="t"/>
          <a:lstStyle/>
          <a:p>
            <a:pPr marL="0" indent="0" algn="l">
              <a:lnSpc>
                <a:spcPct val="104000"/>
              </a:lnSpc>
              <a:buNone/>
            </a:pPr>
            <a:r>
              <a:rPr lang="en-US" sz="1850" dirty="0">
                <a:solidFill>
                  <a:srgbClr val="F98AC7"/>
                </a:solidFill>
                <a:latin typeface="Lora" pitchFamily="34" charset="0"/>
                <a:ea typeface="Lora" pitchFamily="34" charset="-122"/>
                <a:cs typeface="Lora" pitchFamily="34" charset="-120"/>
              </a:rPr>
              <a:t>IEEE 830 – Especificación de Requerimientos de Software</a:t>
            </a:r>
            <a:endParaRPr lang="en-US" sz="1850" dirty="0"/>
          </a:p>
        </p:txBody>
      </p:sp>
      <p:sp>
        <p:nvSpPr>
          <p:cNvPr id="3" name="Text 1"/>
          <p:cNvSpPr/>
          <p:nvPr/>
        </p:nvSpPr>
        <p:spPr>
          <a:xfrm>
            <a:off x="776660" y="748903"/>
            <a:ext cx="7590606" cy="291257"/>
          </a:xfrm>
          <a:prstGeom prst="rect">
            <a:avLst/>
          </a:prstGeom>
          <a:noFill/>
          <a:ln/>
        </p:spPr>
        <p:txBody>
          <a:bodyPr wrap="square" lIns="0" tIns="0" rIns="0" bIns="0" rtlCol="0" anchor="t">
            <a:normAutofit/>
          </a:bodyPr>
          <a:lstStyle/>
          <a:p>
            <a:pPr marL="0" indent="0" algn="l">
              <a:lnSpc>
                <a:spcPct val="119000"/>
              </a:lnSpc>
              <a:buNone/>
            </a:pPr>
            <a:r>
              <a:rPr lang="en-US" sz="800" dirty="0">
                <a:solidFill>
                  <a:srgbClr val="D6E5EF"/>
                </a:solidFill>
                <a:latin typeface="Source Sans 3" pitchFamily="34" charset="0"/>
                <a:ea typeface="Source Sans 3" pitchFamily="34" charset="-122"/>
                <a:cs typeface="Source Sans 3" pitchFamily="34" charset="-120"/>
              </a:rPr>
              <a:t>El estándar IEEE 830 es uno de los documentos más importantes en el ciclo de vida del desarrollo. Define con precisión qué debe hacer el sistema, sirviendo como contrato entre el cliente y el equipo de desarrollo. Una SRS bien elaborada reduce ambigüedades y previene costosos rediseños.</a:t>
            </a:r>
            <a:endParaRPr lang="en-US" sz="800" dirty="0"/>
          </a:p>
        </p:txBody>
      </p:sp>
      <p:sp>
        <p:nvSpPr>
          <p:cNvPr id="4" name="Text 2"/>
          <p:cNvSpPr/>
          <p:nvPr/>
        </p:nvSpPr>
        <p:spPr>
          <a:xfrm>
            <a:off x="776660" y="1209824"/>
            <a:ext cx="2616994" cy="150391"/>
          </a:xfrm>
          <a:prstGeom prst="rect">
            <a:avLst/>
          </a:prstGeom>
          <a:noFill/>
          <a:ln/>
        </p:spPr>
        <p:txBody>
          <a:bodyPr wrap="none" lIns="0" tIns="0" rIns="0" bIns="0" rtlCol="0" anchor="t"/>
          <a:lstStyle/>
          <a:p>
            <a:pPr marL="0" indent="0" algn="l">
              <a:lnSpc>
                <a:spcPct val="104000"/>
              </a:lnSpc>
              <a:buNone/>
            </a:pPr>
            <a:r>
              <a:rPr lang="en-US" sz="900" dirty="0">
                <a:solidFill>
                  <a:srgbClr val="F98AC7"/>
                </a:solidFill>
                <a:latin typeface="Lora" pitchFamily="34" charset="0"/>
                <a:ea typeface="Lora" pitchFamily="34" charset="-122"/>
                <a:cs typeface="Lora" pitchFamily="34" charset="-120"/>
              </a:rPr>
              <a:t>¿Qué incluye una SRS según IEEE 830?</a:t>
            </a:r>
            <a:endParaRPr lang="en-US" sz="900" dirty="0"/>
          </a:p>
        </p:txBody>
      </p:sp>
      <p:sp>
        <p:nvSpPr>
          <p:cNvPr id="5" name="Shape 3"/>
          <p:cNvSpPr/>
          <p:nvPr/>
        </p:nvSpPr>
        <p:spPr>
          <a:xfrm>
            <a:off x="776660" y="1450032"/>
            <a:ext cx="230088" cy="230088"/>
          </a:xfrm>
          <a:prstGeom prst="roundRect">
            <a:avLst>
              <a:gd name="adj" fmla="val 6668"/>
            </a:avLst>
          </a:prstGeom>
          <a:solidFill>
            <a:srgbClr val="444752"/>
          </a:solidFill>
          <a:ln/>
        </p:spPr>
      </p:sp>
      <p:sp>
        <p:nvSpPr>
          <p:cNvPr id="6" name="Text 4"/>
          <p:cNvSpPr/>
          <p:nvPr/>
        </p:nvSpPr>
        <p:spPr>
          <a:xfrm>
            <a:off x="819522" y="1474850"/>
            <a:ext cx="144363" cy="180454"/>
          </a:xfrm>
          <a:prstGeom prst="rect">
            <a:avLst/>
          </a:prstGeom>
          <a:noFill/>
          <a:ln/>
        </p:spPr>
        <p:txBody>
          <a:bodyPr wrap="none" lIns="0" tIns="0" rIns="0" bIns="0" rtlCol="0" anchor="ctr"/>
          <a:lstStyle/>
          <a:p>
            <a:pPr marL="0" indent="0" algn="ctr">
              <a:lnSpc>
                <a:spcPct val="100000"/>
              </a:lnSpc>
              <a:buNone/>
            </a:pPr>
            <a:r>
              <a:rPr lang="en-US" sz="1100" dirty="0">
                <a:solidFill>
                  <a:srgbClr val="D6E5EF"/>
                </a:solidFill>
                <a:latin typeface="Lora" pitchFamily="34" charset="0"/>
                <a:ea typeface="Lora" pitchFamily="34" charset="-122"/>
                <a:cs typeface="Lora" pitchFamily="34" charset="-120"/>
              </a:rPr>
              <a:t>1</a:t>
            </a:r>
            <a:endParaRPr lang="en-US" sz="1100" dirty="0"/>
          </a:p>
        </p:txBody>
      </p:sp>
      <p:sp>
        <p:nvSpPr>
          <p:cNvPr id="7" name="Text 5"/>
          <p:cNvSpPr/>
          <p:nvPr/>
        </p:nvSpPr>
        <p:spPr>
          <a:xfrm>
            <a:off x="1086594" y="1485156"/>
            <a:ext cx="1276424" cy="150391"/>
          </a:xfrm>
          <a:prstGeom prst="rect">
            <a:avLst/>
          </a:prstGeom>
          <a:noFill/>
          <a:ln/>
        </p:spPr>
        <p:txBody>
          <a:bodyPr wrap="none" lIns="0" tIns="0" rIns="0" bIns="0" rtlCol="0" anchor="t"/>
          <a:lstStyle/>
          <a:p>
            <a:pPr marL="0" indent="0" algn="l">
              <a:lnSpc>
                <a:spcPct val="104000"/>
              </a:lnSpc>
              <a:buNone/>
            </a:pPr>
            <a:r>
              <a:rPr lang="en-US" sz="900" dirty="0">
                <a:solidFill>
                  <a:srgbClr val="D6E5EF"/>
                </a:solidFill>
                <a:latin typeface="Lora" pitchFamily="34" charset="0"/>
                <a:ea typeface="Lora" pitchFamily="34" charset="-122"/>
                <a:cs typeface="Lora" pitchFamily="34" charset="-120"/>
              </a:rPr>
              <a:t>Introducción y alcance</a:t>
            </a:r>
            <a:endParaRPr lang="en-US" sz="900" dirty="0"/>
          </a:p>
        </p:txBody>
      </p:sp>
      <p:sp>
        <p:nvSpPr>
          <p:cNvPr id="8" name="Text 6"/>
          <p:cNvSpPr/>
          <p:nvPr/>
        </p:nvSpPr>
        <p:spPr>
          <a:xfrm>
            <a:off x="1086594" y="1715393"/>
            <a:ext cx="3360613" cy="291257"/>
          </a:xfrm>
          <a:prstGeom prst="rect">
            <a:avLst/>
          </a:prstGeom>
          <a:noFill/>
          <a:ln/>
        </p:spPr>
        <p:txBody>
          <a:bodyPr wrap="square" lIns="0" tIns="0" rIns="0" bIns="0" rtlCol="0" anchor="t">
            <a:normAutofit/>
          </a:bodyPr>
          <a:lstStyle/>
          <a:p>
            <a:pPr marL="0" indent="0" algn="l">
              <a:lnSpc>
                <a:spcPct val="119000"/>
              </a:lnSpc>
              <a:buNone/>
            </a:pPr>
            <a:r>
              <a:rPr lang="en-US" sz="800" dirty="0">
                <a:solidFill>
                  <a:srgbClr val="D6E5EF"/>
                </a:solidFill>
                <a:latin typeface="Source Sans 3" pitchFamily="34" charset="0"/>
                <a:ea typeface="Source Sans 3" pitchFamily="34" charset="-122"/>
                <a:cs typeface="Source Sans 3" pitchFamily="34" charset="-120"/>
              </a:rPr>
              <a:t>Objetivos del sistema, contexto de uso y definiciones de términos técnicos relevantes para el proyecto.</a:t>
            </a:r>
            <a:endParaRPr lang="en-US" sz="800" dirty="0"/>
          </a:p>
        </p:txBody>
      </p:sp>
      <p:sp>
        <p:nvSpPr>
          <p:cNvPr id="9" name="Shape 7"/>
          <p:cNvSpPr/>
          <p:nvPr/>
        </p:nvSpPr>
        <p:spPr>
          <a:xfrm>
            <a:off x="776660" y="2166417"/>
            <a:ext cx="230088" cy="230088"/>
          </a:xfrm>
          <a:prstGeom prst="roundRect">
            <a:avLst>
              <a:gd name="adj" fmla="val 6668"/>
            </a:avLst>
          </a:prstGeom>
          <a:solidFill>
            <a:srgbClr val="444752"/>
          </a:solidFill>
          <a:ln/>
        </p:spPr>
      </p:sp>
      <p:sp>
        <p:nvSpPr>
          <p:cNvPr id="10" name="Text 8"/>
          <p:cNvSpPr/>
          <p:nvPr/>
        </p:nvSpPr>
        <p:spPr>
          <a:xfrm>
            <a:off x="819522" y="2191234"/>
            <a:ext cx="144363" cy="180454"/>
          </a:xfrm>
          <a:prstGeom prst="rect">
            <a:avLst/>
          </a:prstGeom>
          <a:noFill/>
          <a:ln/>
        </p:spPr>
        <p:txBody>
          <a:bodyPr wrap="none" lIns="0" tIns="0" rIns="0" bIns="0" rtlCol="0" anchor="ctr"/>
          <a:lstStyle/>
          <a:p>
            <a:pPr marL="0" indent="0" algn="ctr">
              <a:lnSpc>
                <a:spcPct val="100000"/>
              </a:lnSpc>
              <a:buNone/>
            </a:pPr>
            <a:r>
              <a:rPr lang="en-US" sz="1100" dirty="0">
                <a:solidFill>
                  <a:srgbClr val="D6E5EF"/>
                </a:solidFill>
                <a:latin typeface="Lora" pitchFamily="34" charset="0"/>
                <a:ea typeface="Lora" pitchFamily="34" charset="-122"/>
                <a:cs typeface="Lora" pitchFamily="34" charset="-120"/>
              </a:rPr>
              <a:t>2</a:t>
            </a:r>
            <a:endParaRPr lang="en-US" sz="1100" dirty="0"/>
          </a:p>
        </p:txBody>
      </p:sp>
      <p:sp>
        <p:nvSpPr>
          <p:cNvPr id="11" name="Text 9"/>
          <p:cNvSpPr/>
          <p:nvPr/>
        </p:nvSpPr>
        <p:spPr>
          <a:xfrm>
            <a:off x="1086594" y="2201540"/>
            <a:ext cx="1203201" cy="150391"/>
          </a:xfrm>
          <a:prstGeom prst="rect">
            <a:avLst/>
          </a:prstGeom>
          <a:noFill/>
          <a:ln/>
        </p:spPr>
        <p:txBody>
          <a:bodyPr wrap="none" lIns="0" tIns="0" rIns="0" bIns="0" rtlCol="0" anchor="t"/>
          <a:lstStyle/>
          <a:p>
            <a:pPr marL="0" indent="0" algn="l">
              <a:lnSpc>
                <a:spcPct val="104000"/>
              </a:lnSpc>
              <a:buNone/>
            </a:pPr>
            <a:r>
              <a:rPr lang="en-US" sz="900" dirty="0">
                <a:solidFill>
                  <a:srgbClr val="D6E5EF"/>
                </a:solidFill>
                <a:latin typeface="Lora" pitchFamily="34" charset="0"/>
                <a:ea typeface="Lora" pitchFamily="34" charset="-122"/>
                <a:cs typeface="Lora" pitchFamily="34" charset="-120"/>
              </a:rPr>
              <a:t>Descripción general</a:t>
            </a:r>
            <a:endParaRPr lang="en-US" sz="900" dirty="0"/>
          </a:p>
        </p:txBody>
      </p:sp>
      <p:sp>
        <p:nvSpPr>
          <p:cNvPr id="12" name="Text 10"/>
          <p:cNvSpPr/>
          <p:nvPr/>
        </p:nvSpPr>
        <p:spPr>
          <a:xfrm>
            <a:off x="1086594" y="2431777"/>
            <a:ext cx="3360613" cy="291257"/>
          </a:xfrm>
          <a:prstGeom prst="rect">
            <a:avLst/>
          </a:prstGeom>
          <a:noFill/>
          <a:ln/>
        </p:spPr>
        <p:txBody>
          <a:bodyPr wrap="square" lIns="0" tIns="0" rIns="0" bIns="0" rtlCol="0" anchor="t">
            <a:normAutofit/>
          </a:bodyPr>
          <a:lstStyle/>
          <a:p>
            <a:pPr marL="0" indent="0" algn="l">
              <a:lnSpc>
                <a:spcPct val="119000"/>
              </a:lnSpc>
              <a:buNone/>
            </a:pPr>
            <a:r>
              <a:rPr lang="en-US" sz="800" dirty="0">
                <a:solidFill>
                  <a:srgbClr val="D6E5EF"/>
                </a:solidFill>
                <a:latin typeface="Source Sans 3" pitchFamily="34" charset="0"/>
                <a:ea typeface="Source Sans 3" pitchFamily="34" charset="-122"/>
                <a:cs typeface="Source Sans 3" pitchFamily="34" charset="-120"/>
              </a:rPr>
              <a:t>Perspectiva del producto, funciones principales, características de usuario y restricciones del entorno operativo.</a:t>
            </a:r>
            <a:endParaRPr lang="en-US" sz="800" dirty="0"/>
          </a:p>
        </p:txBody>
      </p:sp>
      <p:sp>
        <p:nvSpPr>
          <p:cNvPr id="13" name="Shape 11"/>
          <p:cNvSpPr/>
          <p:nvPr/>
        </p:nvSpPr>
        <p:spPr>
          <a:xfrm>
            <a:off x="776660" y="2882801"/>
            <a:ext cx="230088" cy="230088"/>
          </a:xfrm>
          <a:prstGeom prst="roundRect">
            <a:avLst>
              <a:gd name="adj" fmla="val 6668"/>
            </a:avLst>
          </a:prstGeom>
          <a:solidFill>
            <a:srgbClr val="444752"/>
          </a:solidFill>
          <a:ln/>
        </p:spPr>
      </p:sp>
      <p:sp>
        <p:nvSpPr>
          <p:cNvPr id="14" name="Text 12"/>
          <p:cNvSpPr/>
          <p:nvPr/>
        </p:nvSpPr>
        <p:spPr>
          <a:xfrm>
            <a:off x="819522" y="2907618"/>
            <a:ext cx="144363" cy="180454"/>
          </a:xfrm>
          <a:prstGeom prst="rect">
            <a:avLst/>
          </a:prstGeom>
          <a:noFill/>
          <a:ln/>
        </p:spPr>
        <p:txBody>
          <a:bodyPr wrap="none" lIns="0" tIns="0" rIns="0" bIns="0" rtlCol="0" anchor="ctr"/>
          <a:lstStyle/>
          <a:p>
            <a:pPr marL="0" indent="0" algn="ctr">
              <a:lnSpc>
                <a:spcPct val="100000"/>
              </a:lnSpc>
              <a:buNone/>
            </a:pPr>
            <a:r>
              <a:rPr lang="en-US" sz="1100" dirty="0">
                <a:solidFill>
                  <a:srgbClr val="D6E5EF"/>
                </a:solidFill>
                <a:latin typeface="Lora" pitchFamily="34" charset="0"/>
                <a:ea typeface="Lora" pitchFamily="34" charset="-122"/>
                <a:cs typeface="Lora" pitchFamily="34" charset="-120"/>
              </a:rPr>
              <a:t>3</a:t>
            </a:r>
            <a:endParaRPr lang="en-US" sz="1100" dirty="0"/>
          </a:p>
        </p:txBody>
      </p:sp>
      <p:sp>
        <p:nvSpPr>
          <p:cNvPr id="15" name="Text 13"/>
          <p:cNvSpPr/>
          <p:nvPr/>
        </p:nvSpPr>
        <p:spPr>
          <a:xfrm>
            <a:off x="1086594" y="2917924"/>
            <a:ext cx="1251868" cy="150391"/>
          </a:xfrm>
          <a:prstGeom prst="rect">
            <a:avLst/>
          </a:prstGeom>
          <a:noFill/>
          <a:ln/>
        </p:spPr>
        <p:txBody>
          <a:bodyPr wrap="none" lIns="0" tIns="0" rIns="0" bIns="0" rtlCol="0" anchor="t"/>
          <a:lstStyle/>
          <a:p>
            <a:pPr marL="0" indent="0" algn="l">
              <a:lnSpc>
                <a:spcPct val="104000"/>
              </a:lnSpc>
              <a:buNone/>
            </a:pPr>
            <a:r>
              <a:rPr lang="en-US" sz="900" dirty="0">
                <a:solidFill>
                  <a:srgbClr val="D6E5EF"/>
                </a:solidFill>
                <a:latin typeface="Lora" pitchFamily="34" charset="0"/>
                <a:ea typeface="Lora" pitchFamily="34" charset="-122"/>
                <a:cs typeface="Lora" pitchFamily="34" charset="-120"/>
              </a:rPr>
              <a:t>Requisitos funcionales</a:t>
            </a:r>
            <a:endParaRPr lang="en-US" sz="900" dirty="0"/>
          </a:p>
        </p:txBody>
      </p:sp>
      <p:sp>
        <p:nvSpPr>
          <p:cNvPr id="16" name="Text 14"/>
          <p:cNvSpPr/>
          <p:nvPr/>
        </p:nvSpPr>
        <p:spPr>
          <a:xfrm>
            <a:off x="1086594" y="3148161"/>
            <a:ext cx="3360613" cy="291257"/>
          </a:xfrm>
          <a:prstGeom prst="rect">
            <a:avLst/>
          </a:prstGeom>
          <a:noFill/>
          <a:ln/>
        </p:spPr>
        <p:txBody>
          <a:bodyPr wrap="square" lIns="0" tIns="0" rIns="0" bIns="0" rtlCol="0" anchor="t">
            <a:normAutofit/>
          </a:bodyPr>
          <a:lstStyle/>
          <a:p>
            <a:pPr marL="0" indent="0" algn="l">
              <a:lnSpc>
                <a:spcPct val="119000"/>
              </a:lnSpc>
              <a:buNone/>
            </a:pPr>
            <a:r>
              <a:rPr lang="en-US" sz="800" dirty="0">
                <a:solidFill>
                  <a:srgbClr val="D6E5EF"/>
                </a:solidFill>
                <a:latin typeface="Source Sans 3" pitchFamily="34" charset="0"/>
                <a:ea typeface="Source Sans 3" pitchFamily="34" charset="-122"/>
                <a:cs typeface="Source Sans 3" pitchFamily="34" charset="-120"/>
              </a:rPr>
              <a:t>Comportamiento esperado del sistema: qué entradas recibe, qué procesos ejecuta y qué salidas genera en cada caso de uso.</a:t>
            </a:r>
            <a:endParaRPr lang="en-US" sz="800" dirty="0"/>
          </a:p>
        </p:txBody>
      </p:sp>
      <p:sp>
        <p:nvSpPr>
          <p:cNvPr id="17" name="Shape 15"/>
          <p:cNvSpPr/>
          <p:nvPr/>
        </p:nvSpPr>
        <p:spPr>
          <a:xfrm>
            <a:off x="776660" y="3599185"/>
            <a:ext cx="230088" cy="230088"/>
          </a:xfrm>
          <a:prstGeom prst="roundRect">
            <a:avLst>
              <a:gd name="adj" fmla="val 6668"/>
            </a:avLst>
          </a:prstGeom>
          <a:solidFill>
            <a:srgbClr val="444752"/>
          </a:solidFill>
          <a:ln/>
        </p:spPr>
      </p:sp>
      <p:sp>
        <p:nvSpPr>
          <p:cNvPr id="18" name="Text 16"/>
          <p:cNvSpPr/>
          <p:nvPr/>
        </p:nvSpPr>
        <p:spPr>
          <a:xfrm>
            <a:off x="819522" y="3624002"/>
            <a:ext cx="144363" cy="180454"/>
          </a:xfrm>
          <a:prstGeom prst="rect">
            <a:avLst/>
          </a:prstGeom>
          <a:noFill/>
          <a:ln/>
        </p:spPr>
        <p:txBody>
          <a:bodyPr wrap="none" lIns="0" tIns="0" rIns="0" bIns="0" rtlCol="0" anchor="ctr"/>
          <a:lstStyle/>
          <a:p>
            <a:pPr marL="0" indent="0" algn="ctr">
              <a:lnSpc>
                <a:spcPct val="100000"/>
              </a:lnSpc>
              <a:buNone/>
            </a:pPr>
            <a:r>
              <a:rPr lang="en-US" sz="1100" dirty="0">
                <a:solidFill>
                  <a:srgbClr val="D6E5EF"/>
                </a:solidFill>
                <a:latin typeface="Lora" pitchFamily="34" charset="0"/>
                <a:ea typeface="Lora" pitchFamily="34" charset="-122"/>
                <a:cs typeface="Lora" pitchFamily="34" charset="-120"/>
              </a:rPr>
              <a:t>4</a:t>
            </a:r>
            <a:endParaRPr lang="en-US" sz="1100" dirty="0"/>
          </a:p>
        </p:txBody>
      </p:sp>
      <p:sp>
        <p:nvSpPr>
          <p:cNvPr id="19" name="Text 17"/>
          <p:cNvSpPr/>
          <p:nvPr/>
        </p:nvSpPr>
        <p:spPr>
          <a:xfrm>
            <a:off x="1086594" y="3634308"/>
            <a:ext cx="1426815" cy="150391"/>
          </a:xfrm>
          <a:prstGeom prst="rect">
            <a:avLst/>
          </a:prstGeom>
          <a:noFill/>
          <a:ln/>
        </p:spPr>
        <p:txBody>
          <a:bodyPr wrap="none" lIns="0" tIns="0" rIns="0" bIns="0" rtlCol="0" anchor="t"/>
          <a:lstStyle/>
          <a:p>
            <a:pPr marL="0" indent="0" algn="l">
              <a:lnSpc>
                <a:spcPct val="104000"/>
              </a:lnSpc>
              <a:buNone/>
            </a:pPr>
            <a:r>
              <a:rPr lang="en-US" sz="900" dirty="0">
                <a:solidFill>
                  <a:srgbClr val="D6E5EF"/>
                </a:solidFill>
                <a:latin typeface="Lora" pitchFamily="34" charset="0"/>
                <a:ea typeface="Lora" pitchFamily="34" charset="-122"/>
                <a:cs typeface="Lora" pitchFamily="34" charset="-120"/>
              </a:rPr>
              <a:t>Requisitos no funcionales</a:t>
            </a:r>
            <a:endParaRPr lang="en-US" sz="900" dirty="0"/>
          </a:p>
        </p:txBody>
      </p:sp>
      <p:sp>
        <p:nvSpPr>
          <p:cNvPr id="20" name="Text 18"/>
          <p:cNvSpPr/>
          <p:nvPr/>
        </p:nvSpPr>
        <p:spPr>
          <a:xfrm>
            <a:off x="1086594" y="3864546"/>
            <a:ext cx="3360613" cy="291257"/>
          </a:xfrm>
          <a:prstGeom prst="rect">
            <a:avLst/>
          </a:prstGeom>
          <a:noFill/>
          <a:ln/>
        </p:spPr>
        <p:txBody>
          <a:bodyPr wrap="square" lIns="0" tIns="0" rIns="0" bIns="0" rtlCol="0" anchor="t">
            <a:normAutofit/>
          </a:bodyPr>
          <a:lstStyle/>
          <a:p>
            <a:pPr marL="0" indent="0" algn="l">
              <a:lnSpc>
                <a:spcPct val="119000"/>
              </a:lnSpc>
              <a:buNone/>
            </a:pPr>
            <a:r>
              <a:rPr lang="en-US" sz="800" dirty="0">
                <a:solidFill>
                  <a:srgbClr val="D6E5EF"/>
                </a:solidFill>
                <a:latin typeface="Source Sans 3" pitchFamily="34" charset="0"/>
                <a:ea typeface="Source Sans 3" pitchFamily="34" charset="-122"/>
                <a:cs typeface="Source Sans 3" pitchFamily="34" charset="-120"/>
              </a:rPr>
              <a:t>Rendimiento, seguridad, fiabilidad, escalabilidad y otros atributos de calidad que el sistema debe cumplir.</a:t>
            </a:r>
            <a:endParaRPr lang="en-US" sz="800" dirty="0"/>
          </a:p>
        </p:txBody>
      </p:sp>
      <p:pic>
        <p:nvPicPr>
          <p:cNvPr id="21" name="Image 0" descr="preencoded.png"/>
          <p:cNvPicPr>
            <a:picLocks noChangeAspect="1"/>
          </p:cNvPicPr>
          <p:nvPr/>
        </p:nvPicPr>
        <p:blipFill>
          <a:blip r:embed="rId3"/>
          <a:stretch>
            <a:fillRect/>
          </a:stretch>
        </p:blipFill>
        <p:spPr>
          <a:xfrm>
            <a:off x="4701406" y="1219795"/>
            <a:ext cx="3670548" cy="2333997"/>
          </a:xfrm>
          <a:prstGeom prst="rect">
            <a:avLst/>
          </a:prstGeom>
        </p:spPr>
      </p:pic>
      <p:sp>
        <p:nvSpPr>
          <p:cNvPr id="22" name="Shape 19"/>
          <p:cNvSpPr/>
          <p:nvPr/>
        </p:nvSpPr>
        <p:spPr>
          <a:xfrm>
            <a:off x="776660" y="4335438"/>
            <a:ext cx="7590606" cy="519633"/>
          </a:xfrm>
          <a:prstGeom prst="roundRect">
            <a:avLst>
              <a:gd name="adj" fmla="val 2952"/>
            </a:avLst>
          </a:prstGeom>
          <a:solidFill>
            <a:srgbClr val="022349"/>
          </a:solidFill>
          <a:ln/>
        </p:spPr>
      </p:sp>
      <p:pic>
        <p:nvPicPr>
          <p:cNvPr id="23" name="Image 1" descr="preencoded.png"/>
          <p:cNvPicPr>
            <a:picLocks noChangeAspect="1"/>
          </p:cNvPicPr>
          <p:nvPr/>
        </p:nvPicPr>
        <p:blipFill>
          <a:blip r:embed="rId4"/>
          <a:stretch>
            <a:fillRect/>
          </a:stretch>
        </p:blipFill>
        <p:spPr>
          <a:xfrm>
            <a:off x="878904" y="4473699"/>
            <a:ext cx="127769" cy="102245"/>
          </a:xfrm>
          <a:prstGeom prst="rect">
            <a:avLst/>
          </a:prstGeom>
        </p:spPr>
      </p:pic>
      <p:sp>
        <p:nvSpPr>
          <p:cNvPr id="24" name="Text 20"/>
          <p:cNvSpPr/>
          <p:nvPr/>
        </p:nvSpPr>
        <p:spPr>
          <a:xfrm>
            <a:off x="1108918" y="4440808"/>
            <a:ext cx="7156103" cy="291257"/>
          </a:xfrm>
          <a:prstGeom prst="rect">
            <a:avLst/>
          </a:prstGeom>
          <a:noFill/>
          <a:ln/>
        </p:spPr>
        <p:txBody>
          <a:bodyPr wrap="square" lIns="0" tIns="0" rIns="0" bIns="0" rtlCol="0" anchor="t">
            <a:normAutofit/>
          </a:bodyPr>
          <a:lstStyle/>
          <a:p>
            <a:pPr marL="0" indent="0" algn="l">
              <a:lnSpc>
                <a:spcPct val="119000"/>
              </a:lnSpc>
              <a:buNone/>
            </a:pPr>
            <a:r>
              <a:rPr lang="en-US" sz="800" b="1" dirty="0">
                <a:solidFill>
                  <a:srgbClr val="FFFFFF"/>
                </a:solidFill>
                <a:latin typeface="Source Sans 3" pitchFamily="34" charset="0"/>
                <a:ea typeface="Source Sans 3" pitchFamily="34" charset="-122"/>
                <a:cs typeface="Source Sans 3" pitchFamily="34" charset="-120"/>
              </a:rPr>
              <a:t>Importancia práctica:</a:t>
            </a:r>
            <a:r>
              <a:rPr lang="en-US" sz="800" dirty="0">
                <a:solidFill>
                  <a:srgbClr val="FFFFFF"/>
                </a:solidFill>
                <a:latin typeface="Source Sans 3" pitchFamily="34" charset="0"/>
                <a:ea typeface="Source Sans 3" pitchFamily="34" charset="-122"/>
                <a:cs typeface="Source Sans 3" pitchFamily="34" charset="-120"/>
              </a:rPr>
              <a:t> La SRS permite que clientes y desarrolladores compartan una visión clara del producto antes de escribir una sola línea de código, reduciendo significativamente el riesgo de malentendidos y cambios tardíos.</a:t>
            </a:r>
            <a:endParaRPr lang="en-US" sz="800" dirty="0"/>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23577" y="481385"/>
            <a:ext cx="7820025" cy="384944"/>
          </a:xfrm>
          <a:prstGeom prst="rect">
            <a:avLst/>
          </a:prstGeom>
          <a:noFill/>
          <a:ln/>
        </p:spPr>
        <p:txBody>
          <a:bodyPr wrap="none" lIns="0" tIns="0" rIns="0" bIns="0" rtlCol="0" anchor="t"/>
          <a:lstStyle/>
          <a:p>
            <a:pPr marL="0" indent="0" algn="l">
              <a:lnSpc>
                <a:spcPct val="104000"/>
              </a:lnSpc>
              <a:buNone/>
            </a:pPr>
            <a:r>
              <a:rPr lang="en-US" sz="2400" dirty="0">
                <a:solidFill>
                  <a:srgbClr val="F98AC7"/>
                </a:solidFill>
                <a:latin typeface="Lora" pitchFamily="34" charset="0"/>
                <a:ea typeface="Lora" pitchFamily="34" charset="-122"/>
                <a:cs typeface="Lora" pitchFamily="34" charset="-120"/>
              </a:rPr>
              <a:t>IEEE 1016 – Documentación del Diseño de Software</a:t>
            </a:r>
            <a:endParaRPr lang="en-US" sz="2400" dirty="0"/>
          </a:p>
        </p:txBody>
      </p:sp>
      <p:sp>
        <p:nvSpPr>
          <p:cNvPr id="3" name="Shape 1"/>
          <p:cNvSpPr/>
          <p:nvPr/>
        </p:nvSpPr>
        <p:spPr>
          <a:xfrm>
            <a:off x="523577" y="1132880"/>
            <a:ext cx="579239" cy="245938"/>
          </a:xfrm>
          <a:prstGeom prst="roundRect">
            <a:avLst>
              <a:gd name="adj" fmla="val 6388"/>
            </a:avLst>
          </a:prstGeom>
          <a:solidFill>
            <a:srgbClr val="49042A"/>
          </a:solidFill>
          <a:ln/>
        </p:spPr>
      </p:sp>
      <p:sp>
        <p:nvSpPr>
          <p:cNvPr id="4" name="Text 2"/>
          <p:cNvSpPr/>
          <p:nvPr/>
        </p:nvSpPr>
        <p:spPr>
          <a:xfrm>
            <a:off x="602084" y="1172096"/>
            <a:ext cx="879425" cy="167506"/>
          </a:xfrm>
          <a:prstGeom prst="rect">
            <a:avLst/>
          </a:prstGeom>
          <a:noFill/>
          <a:ln/>
        </p:spPr>
        <p:txBody>
          <a:bodyPr wrap="none" lIns="0" tIns="0" rIns="0" bIns="0" rtlCol="0" anchor="t"/>
          <a:lstStyle/>
          <a:p>
            <a:pPr marL="0" indent="0" algn="l">
              <a:lnSpc>
                <a:spcPct val="133000"/>
              </a:lnSpc>
              <a:buNone/>
            </a:pPr>
            <a:r>
              <a:rPr lang="en-US" sz="800" dirty="0">
                <a:solidFill>
                  <a:srgbClr val="D6E5EF"/>
                </a:solidFill>
                <a:latin typeface="Source Sans 3" pitchFamily="34" charset="0"/>
                <a:ea typeface="Source Sans 3" pitchFamily="34" charset="-122"/>
                <a:cs typeface="Source Sans 3" pitchFamily="34" charset="-120"/>
              </a:rPr>
              <a:t>IEEE 1016</a:t>
            </a:r>
            <a:endParaRPr lang="en-US" sz="800" dirty="0"/>
          </a:p>
        </p:txBody>
      </p:sp>
      <p:sp>
        <p:nvSpPr>
          <p:cNvPr id="5" name="Shape 3"/>
          <p:cNvSpPr/>
          <p:nvPr/>
        </p:nvSpPr>
        <p:spPr>
          <a:xfrm>
            <a:off x="1168226" y="1128117"/>
            <a:ext cx="1505099" cy="255463"/>
          </a:xfrm>
          <a:prstGeom prst="roundRect">
            <a:avLst>
              <a:gd name="adj" fmla="val 6149"/>
            </a:avLst>
          </a:prstGeom>
          <a:noFill/>
          <a:ln w="4763">
            <a:solidFill>
              <a:srgbClr val="F98AC7"/>
            </a:solidFill>
            <a:prstDash val="solid"/>
          </a:ln>
        </p:spPr>
      </p:sp>
      <p:sp>
        <p:nvSpPr>
          <p:cNvPr id="6" name="Text 4"/>
          <p:cNvSpPr/>
          <p:nvPr/>
        </p:nvSpPr>
        <p:spPr>
          <a:xfrm>
            <a:off x="1251496" y="1172096"/>
            <a:ext cx="1795760" cy="167506"/>
          </a:xfrm>
          <a:prstGeom prst="rect">
            <a:avLst/>
          </a:prstGeom>
          <a:noFill/>
          <a:ln/>
        </p:spPr>
        <p:txBody>
          <a:bodyPr wrap="none" lIns="0" tIns="0" rIns="0" bIns="0" rtlCol="0" anchor="t"/>
          <a:lstStyle/>
          <a:p>
            <a:pPr marL="0" indent="0" algn="l">
              <a:lnSpc>
                <a:spcPct val="133000"/>
              </a:lnSpc>
              <a:buNone/>
            </a:pPr>
            <a:r>
              <a:rPr lang="en-US" sz="800" dirty="0">
                <a:solidFill>
                  <a:srgbClr val="F98AC7"/>
                </a:solidFill>
                <a:latin typeface="Source Sans 3" pitchFamily="34" charset="0"/>
                <a:ea typeface="Source Sans 3" pitchFamily="34" charset="-122"/>
                <a:cs typeface="Source Sans 3" pitchFamily="34" charset="-120"/>
              </a:rPr>
              <a:t>ARQUITECTURA DE SOFTWARE</a:t>
            </a:r>
            <a:endParaRPr lang="en-US" sz="800" dirty="0"/>
          </a:p>
        </p:txBody>
      </p:sp>
      <p:sp>
        <p:nvSpPr>
          <p:cNvPr id="7" name="Text 5"/>
          <p:cNvSpPr/>
          <p:nvPr/>
        </p:nvSpPr>
        <p:spPr>
          <a:xfrm>
            <a:off x="523577" y="1530846"/>
            <a:ext cx="8096845" cy="418802"/>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6E5EF"/>
                </a:solidFill>
                <a:latin typeface="Source Sans 3" pitchFamily="34" charset="0"/>
                <a:ea typeface="Source Sans 3" pitchFamily="34" charset="-122"/>
                <a:cs typeface="Source Sans 3" pitchFamily="34" charset="-120"/>
              </a:rPr>
              <a:t>Mientras que el IEEE 830 describe </a:t>
            </a:r>
            <a:r>
              <a:rPr lang="en-US" sz="1000" i="1" dirty="0">
                <a:solidFill>
                  <a:srgbClr val="D6E5EF"/>
                </a:solidFill>
                <a:latin typeface="Source Sans 3" pitchFamily="34" charset="0"/>
                <a:ea typeface="Source Sans 3" pitchFamily="34" charset="-122"/>
                <a:cs typeface="Source Sans 3" pitchFamily="34" charset="-120"/>
              </a:rPr>
              <a:t>qué</a:t>
            </a:r>
            <a:r>
              <a:rPr lang="en-US" sz="1000" dirty="0">
                <a:solidFill>
                  <a:srgbClr val="D6E5EF"/>
                </a:solidFill>
                <a:latin typeface="Source Sans 3" pitchFamily="34" charset="0"/>
                <a:ea typeface="Source Sans 3" pitchFamily="34" charset="-122"/>
                <a:cs typeface="Source Sans 3" pitchFamily="34" charset="-120"/>
              </a:rPr>
              <a:t> debe hacer el sistema, el IEEE 1016 describe </a:t>
            </a:r>
            <a:r>
              <a:rPr lang="en-US" sz="1000" i="1" dirty="0">
                <a:solidFill>
                  <a:srgbClr val="D6E5EF"/>
                </a:solidFill>
                <a:latin typeface="Source Sans 3" pitchFamily="34" charset="0"/>
                <a:ea typeface="Source Sans 3" pitchFamily="34" charset="-122"/>
                <a:cs typeface="Source Sans 3" pitchFamily="34" charset="-120"/>
              </a:rPr>
              <a:t>cómo</a:t>
            </a:r>
            <a:r>
              <a:rPr lang="en-US" sz="1000" dirty="0">
                <a:solidFill>
                  <a:srgbClr val="D6E5EF"/>
                </a:solidFill>
                <a:latin typeface="Source Sans 3" pitchFamily="34" charset="0"/>
                <a:ea typeface="Source Sans 3" pitchFamily="34" charset="-122"/>
                <a:cs typeface="Source Sans 3" pitchFamily="34" charset="-120"/>
              </a:rPr>
              <a:t> lo hará. Este estándar establece cómo documentar la arquitectura interna, los componentes, las interfaces y las relaciones entre módulos del software.</a:t>
            </a:r>
            <a:endParaRPr lang="en-US" sz="1000" dirty="0"/>
          </a:p>
        </p:txBody>
      </p:sp>
      <p:pic>
        <p:nvPicPr>
          <p:cNvPr id="8" name="Image 0" descr="preencoded.png"/>
          <p:cNvPicPr>
            <a:picLocks noChangeAspect="1"/>
          </p:cNvPicPr>
          <p:nvPr/>
        </p:nvPicPr>
        <p:blipFill>
          <a:blip r:embed="rId3"/>
          <a:stretch>
            <a:fillRect/>
          </a:stretch>
        </p:blipFill>
        <p:spPr>
          <a:xfrm>
            <a:off x="523577" y="2096914"/>
            <a:ext cx="1102816" cy="681558"/>
          </a:xfrm>
          <a:prstGeom prst="rect">
            <a:avLst/>
          </a:prstGeom>
        </p:spPr>
      </p:pic>
      <p:sp>
        <p:nvSpPr>
          <p:cNvPr id="9" name="Text 6"/>
          <p:cNvSpPr/>
          <p:nvPr/>
        </p:nvSpPr>
        <p:spPr>
          <a:xfrm>
            <a:off x="523577" y="2942109"/>
            <a:ext cx="1901428" cy="385018"/>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D6E5EF"/>
                </a:solidFill>
                <a:latin typeface="Lora" pitchFamily="34" charset="0"/>
                <a:ea typeface="Lora" pitchFamily="34" charset="-122"/>
                <a:cs typeface="Lora" pitchFamily="34" charset="-120"/>
              </a:rPr>
              <a:t>Diagramas de arquitectura</a:t>
            </a:r>
            <a:endParaRPr lang="en-US" sz="1200" dirty="0"/>
          </a:p>
        </p:txBody>
      </p:sp>
      <p:sp>
        <p:nvSpPr>
          <p:cNvPr id="10" name="Text 7"/>
          <p:cNvSpPr/>
          <p:nvPr/>
        </p:nvSpPr>
        <p:spPr>
          <a:xfrm>
            <a:off x="523577" y="3405634"/>
            <a:ext cx="1901428" cy="1256407"/>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6E5EF"/>
                </a:solidFill>
                <a:latin typeface="Source Sans 3" pitchFamily="34" charset="0"/>
                <a:ea typeface="Source Sans 3" pitchFamily="34" charset="-122"/>
                <a:cs typeface="Source Sans 3" pitchFamily="34" charset="-120"/>
              </a:rPr>
              <a:t>Incluye diagramas de componentes, de secuencia y de clases que representan visualmente la estructura del sistema y cómo interactúan sus partes.</a:t>
            </a:r>
            <a:endParaRPr lang="en-US" sz="1000" dirty="0"/>
          </a:p>
        </p:txBody>
      </p:sp>
      <p:pic>
        <p:nvPicPr>
          <p:cNvPr id="11" name="Image 1" descr="preencoded.png"/>
          <p:cNvPicPr>
            <a:picLocks noChangeAspect="1"/>
          </p:cNvPicPr>
          <p:nvPr/>
        </p:nvPicPr>
        <p:blipFill>
          <a:blip r:embed="rId4"/>
          <a:stretch>
            <a:fillRect/>
          </a:stretch>
        </p:blipFill>
        <p:spPr>
          <a:xfrm>
            <a:off x="2588642" y="2096914"/>
            <a:ext cx="1102816" cy="681558"/>
          </a:xfrm>
          <a:prstGeom prst="rect">
            <a:avLst/>
          </a:prstGeom>
        </p:spPr>
      </p:pic>
      <p:sp>
        <p:nvSpPr>
          <p:cNvPr id="12" name="Text 8"/>
          <p:cNvSpPr/>
          <p:nvPr/>
        </p:nvSpPr>
        <p:spPr>
          <a:xfrm>
            <a:off x="2588642" y="2942109"/>
            <a:ext cx="1712565" cy="19250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Lora" pitchFamily="34" charset="0"/>
                <a:ea typeface="Lora" pitchFamily="34" charset="-122"/>
                <a:cs typeface="Lora" pitchFamily="34" charset="-120"/>
              </a:rPr>
              <a:t>Definición de interfaces</a:t>
            </a:r>
            <a:endParaRPr lang="en-US" sz="1200" dirty="0"/>
          </a:p>
        </p:txBody>
      </p:sp>
      <p:sp>
        <p:nvSpPr>
          <p:cNvPr id="13" name="Text 9"/>
          <p:cNvSpPr/>
          <p:nvPr/>
        </p:nvSpPr>
        <p:spPr>
          <a:xfrm>
            <a:off x="2588642" y="3213125"/>
            <a:ext cx="1901503" cy="1047006"/>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6E5EF"/>
                </a:solidFill>
                <a:latin typeface="Source Sans 3" pitchFamily="34" charset="0"/>
                <a:ea typeface="Source Sans 3" pitchFamily="34" charset="-122"/>
                <a:cs typeface="Source Sans 3" pitchFamily="34" charset="-120"/>
              </a:rPr>
              <a:t>Documenta las interfaces entre módulos, especificando parámetros de entrada, salida, tipos de datos y protocolos de comunicación utilizados.</a:t>
            </a:r>
            <a:endParaRPr lang="en-US" sz="1000" dirty="0"/>
          </a:p>
        </p:txBody>
      </p:sp>
      <p:pic>
        <p:nvPicPr>
          <p:cNvPr id="14" name="Image 2" descr="preencoded.png"/>
          <p:cNvPicPr>
            <a:picLocks noChangeAspect="1"/>
          </p:cNvPicPr>
          <p:nvPr/>
        </p:nvPicPr>
        <p:blipFill>
          <a:blip r:embed="rId5"/>
          <a:stretch>
            <a:fillRect/>
          </a:stretch>
        </p:blipFill>
        <p:spPr>
          <a:xfrm>
            <a:off x="4653781" y="2096914"/>
            <a:ext cx="1102816" cy="681558"/>
          </a:xfrm>
          <a:prstGeom prst="rect">
            <a:avLst/>
          </a:prstGeom>
        </p:spPr>
      </p:pic>
      <p:sp>
        <p:nvSpPr>
          <p:cNvPr id="15" name="Text 10"/>
          <p:cNvSpPr/>
          <p:nvPr/>
        </p:nvSpPr>
        <p:spPr>
          <a:xfrm>
            <a:off x="4653781" y="2942109"/>
            <a:ext cx="1540073" cy="19250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Lora" pitchFamily="34" charset="0"/>
                <a:ea typeface="Lora" pitchFamily="34" charset="-122"/>
                <a:cs typeface="Lora" pitchFamily="34" charset="-120"/>
              </a:rPr>
              <a:t>Diseño de datos</a:t>
            </a:r>
            <a:endParaRPr lang="en-US" sz="1200" dirty="0"/>
          </a:p>
        </p:txBody>
      </p:sp>
      <p:sp>
        <p:nvSpPr>
          <p:cNvPr id="16" name="Text 11"/>
          <p:cNvSpPr/>
          <p:nvPr/>
        </p:nvSpPr>
        <p:spPr>
          <a:xfrm>
            <a:off x="4653781" y="3213125"/>
            <a:ext cx="1901503" cy="1047006"/>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6E5EF"/>
                </a:solidFill>
                <a:latin typeface="Source Sans 3" pitchFamily="34" charset="0"/>
                <a:ea typeface="Source Sans 3" pitchFamily="34" charset="-122"/>
                <a:cs typeface="Source Sans 3" pitchFamily="34" charset="-120"/>
              </a:rPr>
              <a:t>Describe la estructura de la base de datos, modelos de datos, esquemas relacionales y reglas de integridad que sustentan el sistema.</a:t>
            </a:r>
            <a:endParaRPr lang="en-US" sz="1000" dirty="0"/>
          </a:p>
        </p:txBody>
      </p:sp>
      <p:pic>
        <p:nvPicPr>
          <p:cNvPr id="17" name="Image 3" descr="preencoded.png"/>
          <p:cNvPicPr>
            <a:picLocks noChangeAspect="1"/>
          </p:cNvPicPr>
          <p:nvPr/>
        </p:nvPicPr>
        <p:blipFill>
          <a:blip r:embed="rId6"/>
          <a:stretch>
            <a:fillRect/>
          </a:stretch>
        </p:blipFill>
        <p:spPr>
          <a:xfrm>
            <a:off x="6718920" y="2096914"/>
            <a:ext cx="1102816" cy="681558"/>
          </a:xfrm>
          <a:prstGeom prst="rect">
            <a:avLst/>
          </a:prstGeom>
        </p:spPr>
      </p:pic>
      <p:sp>
        <p:nvSpPr>
          <p:cNvPr id="18" name="Text 12"/>
          <p:cNvSpPr/>
          <p:nvPr/>
        </p:nvSpPr>
        <p:spPr>
          <a:xfrm>
            <a:off x="6718920" y="2942109"/>
            <a:ext cx="1540073" cy="19250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Lora" pitchFamily="34" charset="0"/>
                <a:ea typeface="Lora" pitchFamily="34" charset="-122"/>
                <a:cs typeface="Lora" pitchFamily="34" charset="-120"/>
              </a:rPr>
              <a:t>Mantenibilidad</a:t>
            </a:r>
            <a:endParaRPr lang="en-US" sz="1200" dirty="0"/>
          </a:p>
        </p:txBody>
      </p:sp>
      <p:sp>
        <p:nvSpPr>
          <p:cNvPr id="19" name="Text 13"/>
          <p:cNvSpPr/>
          <p:nvPr/>
        </p:nvSpPr>
        <p:spPr>
          <a:xfrm>
            <a:off x="6718920" y="3213125"/>
            <a:ext cx="1901503" cy="1047006"/>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6E5EF"/>
                </a:solidFill>
                <a:latin typeface="Source Sans 3" pitchFamily="34" charset="0"/>
                <a:ea typeface="Source Sans 3" pitchFamily="34" charset="-122"/>
                <a:cs typeface="Source Sans 3" pitchFamily="34" charset="-120"/>
              </a:rPr>
              <a:t>Facilita que nuevos desarrolladores comprendan el sistema rápidamente, reduciendo la curva de aprendizaje y el riesgo de introducir regresiones.</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0910" y="558626"/>
            <a:ext cx="5789712" cy="360983"/>
          </a:xfrm>
          <a:prstGeom prst="rect">
            <a:avLst/>
          </a:prstGeom>
          <a:noFill/>
          <a:ln/>
        </p:spPr>
        <p:txBody>
          <a:bodyPr wrap="none" lIns="0" tIns="0" rIns="0" bIns="0" rtlCol="0" anchor="t"/>
          <a:lstStyle/>
          <a:p>
            <a:pPr marL="0" indent="0" algn="l">
              <a:lnSpc>
                <a:spcPct val="104000"/>
              </a:lnSpc>
              <a:buNone/>
            </a:pPr>
            <a:r>
              <a:rPr lang="en-US" sz="2250" dirty="0">
                <a:solidFill>
                  <a:srgbClr val="F98AC7"/>
                </a:solidFill>
                <a:latin typeface="Lora" pitchFamily="34" charset="0"/>
                <a:ea typeface="Lora" pitchFamily="34" charset="-122"/>
                <a:cs typeface="Lora" pitchFamily="34" charset="-120"/>
              </a:rPr>
              <a:t>ISO: Normas Internacionales de Calidad</a:t>
            </a:r>
            <a:endParaRPr lang="en-US" sz="2250" dirty="0"/>
          </a:p>
        </p:txBody>
      </p:sp>
      <p:sp>
        <p:nvSpPr>
          <p:cNvPr id="3" name="Shape 1"/>
          <p:cNvSpPr/>
          <p:nvPr/>
        </p:nvSpPr>
        <p:spPr>
          <a:xfrm>
            <a:off x="490910" y="1149697"/>
            <a:ext cx="290661" cy="225623"/>
          </a:xfrm>
          <a:prstGeom prst="roundRect">
            <a:avLst>
              <a:gd name="adj" fmla="val 6528"/>
            </a:avLst>
          </a:prstGeom>
          <a:solidFill>
            <a:srgbClr val="49042A"/>
          </a:solidFill>
          <a:ln/>
        </p:spPr>
      </p:sp>
      <p:sp>
        <p:nvSpPr>
          <p:cNvPr id="4" name="Text 2"/>
          <p:cNvSpPr/>
          <p:nvPr/>
        </p:nvSpPr>
        <p:spPr>
          <a:xfrm>
            <a:off x="564505" y="1186458"/>
            <a:ext cx="600670" cy="152102"/>
          </a:xfrm>
          <a:prstGeom prst="rect">
            <a:avLst/>
          </a:prstGeom>
          <a:noFill/>
          <a:ln/>
        </p:spPr>
        <p:txBody>
          <a:bodyPr wrap="none" lIns="0" tIns="0" rIns="0" bIns="0" rtlCol="0" anchor="t"/>
          <a:lstStyle/>
          <a:p>
            <a:pPr marL="0" indent="0" algn="l">
              <a:lnSpc>
                <a:spcPct val="129000"/>
              </a:lnSpc>
              <a:buNone/>
            </a:pPr>
            <a:r>
              <a:rPr lang="en-US" sz="750" dirty="0">
                <a:solidFill>
                  <a:srgbClr val="D6E5EF"/>
                </a:solidFill>
                <a:latin typeface="Source Sans 3" pitchFamily="34" charset="0"/>
                <a:ea typeface="Source Sans 3" pitchFamily="34" charset="-122"/>
                <a:cs typeface="Source Sans 3" pitchFamily="34" charset="-120"/>
              </a:rPr>
              <a:t>ISO</a:t>
            </a:r>
            <a:endParaRPr lang="en-US" sz="750" dirty="0"/>
          </a:p>
        </p:txBody>
      </p:sp>
      <p:sp>
        <p:nvSpPr>
          <p:cNvPr id="5" name="Text 3"/>
          <p:cNvSpPr/>
          <p:nvPr/>
        </p:nvSpPr>
        <p:spPr>
          <a:xfrm>
            <a:off x="490910" y="1504727"/>
            <a:ext cx="8162181" cy="380256"/>
          </a:xfrm>
          <a:prstGeom prst="rect">
            <a:avLst/>
          </a:prstGeom>
          <a:noFill/>
          <a:ln/>
        </p:spPr>
        <p:txBody>
          <a:bodyPr wrap="square" lIns="0" tIns="0" rIns="0" bIns="0" rtlCol="0" anchor="t">
            <a:normAutofit/>
          </a:bodyPr>
          <a:lstStyle/>
          <a:p>
            <a:pPr marL="0" indent="0" algn="l">
              <a:lnSpc>
                <a:spcPct val="129000"/>
              </a:lnSpc>
              <a:buNone/>
            </a:pPr>
            <a:r>
              <a:rPr lang="en-US" sz="950" dirty="0">
                <a:solidFill>
                  <a:srgbClr val="D6E5EF"/>
                </a:solidFill>
                <a:latin typeface="Source Sans 3" pitchFamily="34" charset="0"/>
                <a:ea typeface="Source Sans 3" pitchFamily="34" charset="-122"/>
                <a:cs typeface="Source Sans 3" pitchFamily="34" charset="-120"/>
              </a:rPr>
              <a:t>La </a:t>
            </a:r>
            <a:r>
              <a:rPr lang="en-US" sz="950" b="1" dirty="0">
                <a:solidFill>
                  <a:srgbClr val="D6E5EF"/>
                </a:solidFill>
                <a:latin typeface="Source Sans 3" pitchFamily="34" charset="0"/>
                <a:ea typeface="Source Sans 3" pitchFamily="34" charset="-122"/>
                <a:cs typeface="Source Sans 3" pitchFamily="34" charset="-120"/>
              </a:rPr>
              <a:t>International Organization for Standardization</a:t>
            </a:r>
            <a:r>
              <a:rPr lang="en-US" sz="950" dirty="0">
                <a:solidFill>
                  <a:srgbClr val="D6E5EF"/>
                </a:solidFill>
                <a:latin typeface="Source Sans 3" pitchFamily="34" charset="0"/>
                <a:ea typeface="Source Sans 3" pitchFamily="34" charset="-122"/>
                <a:cs typeface="Source Sans 3" pitchFamily="34" charset="-120"/>
              </a:rPr>
              <a:t> es una federación mundial de organismos nacionales de normalización. Sus estándares abarcan prácticamente todos los sectores industriales, incluido el desarrollo de software, donde establecen marcos de calidad, seguridad y mejora continua de procesos.</a:t>
            </a:r>
            <a:endParaRPr lang="en-US" sz="950" dirty="0"/>
          </a:p>
        </p:txBody>
      </p:sp>
      <p:sp>
        <p:nvSpPr>
          <p:cNvPr id="6" name="Shape 4"/>
          <p:cNvSpPr/>
          <p:nvPr/>
        </p:nvSpPr>
        <p:spPr>
          <a:xfrm>
            <a:off x="490910" y="2014389"/>
            <a:ext cx="8162181" cy="1750219"/>
          </a:xfrm>
          <a:prstGeom prst="roundRect">
            <a:avLst>
              <a:gd name="adj" fmla="val 1052"/>
            </a:avLst>
          </a:prstGeom>
          <a:solidFill>
            <a:srgbClr val="444752"/>
          </a:solidFill>
          <a:ln/>
        </p:spPr>
      </p:sp>
      <p:sp>
        <p:nvSpPr>
          <p:cNvPr id="7" name="Shape 5"/>
          <p:cNvSpPr/>
          <p:nvPr/>
        </p:nvSpPr>
        <p:spPr>
          <a:xfrm>
            <a:off x="490910" y="2014389"/>
            <a:ext cx="4081090" cy="875109"/>
          </a:xfrm>
          <a:prstGeom prst="roundRect">
            <a:avLst>
              <a:gd name="adj" fmla="val 2104"/>
            </a:avLst>
          </a:prstGeom>
          <a:solidFill>
            <a:srgbClr val="444752"/>
          </a:solidFill>
          <a:ln/>
        </p:spPr>
      </p:sp>
      <p:sp>
        <p:nvSpPr>
          <p:cNvPr id="8" name="Text 6"/>
          <p:cNvSpPr/>
          <p:nvPr/>
        </p:nvSpPr>
        <p:spPr>
          <a:xfrm>
            <a:off x="613618" y="2137097"/>
            <a:ext cx="1443856" cy="180454"/>
          </a:xfrm>
          <a:prstGeom prst="rect">
            <a:avLst/>
          </a:prstGeom>
          <a:noFill/>
          <a:ln/>
        </p:spPr>
        <p:txBody>
          <a:bodyPr wrap="none" lIns="0" tIns="0" rIns="0" bIns="0" rtlCol="0" anchor="t"/>
          <a:lstStyle/>
          <a:p>
            <a:pPr marL="0" indent="0" algn="l">
              <a:lnSpc>
                <a:spcPct val="104000"/>
              </a:lnSpc>
              <a:buNone/>
            </a:pPr>
            <a:r>
              <a:rPr lang="en-US" sz="1100" dirty="0">
                <a:solidFill>
                  <a:srgbClr val="D6E5EF"/>
                </a:solidFill>
                <a:latin typeface="Lora" pitchFamily="34" charset="0"/>
                <a:ea typeface="Lora" pitchFamily="34" charset="-122"/>
                <a:cs typeface="Lora" pitchFamily="34" charset="-120"/>
              </a:rPr>
              <a:t>ISO 9001</a:t>
            </a:r>
            <a:endParaRPr lang="en-US" sz="1100" dirty="0"/>
          </a:p>
        </p:txBody>
      </p:sp>
      <p:sp>
        <p:nvSpPr>
          <p:cNvPr id="9" name="Text 7"/>
          <p:cNvSpPr/>
          <p:nvPr/>
        </p:nvSpPr>
        <p:spPr>
          <a:xfrm>
            <a:off x="613618" y="2386533"/>
            <a:ext cx="3835673" cy="380256"/>
          </a:xfrm>
          <a:prstGeom prst="rect">
            <a:avLst/>
          </a:prstGeom>
          <a:noFill/>
          <a:ln/>
        </p:spPr>
        <p:txBody>
          <a:bodyPr wrap="square" lIns="0" tIns="0" rIns="0" bIns="0" rtlCol="0" anchor="t">
            <a:normAutofit/>
          </a:bodyPr>
          <a:lstStyle/>
          <a:p>
            <a:pPr marL="0" indent="0" algn="l">
              <a:lnSpc>
                <a:spcPct val="129000"/>
              </a:lnSpc>
              <a:buNone/>
            </a:pPr>
            <a:r>
              <a:rPr lang="en-US" sz="950" dirty="0">
                <a:solidFill>
                  <a:srgbClr val="D6E5EF"/>
                </a:solidFill>
                <a:latin typeface="Source Sans 3" pitchFamily="34" charset="0"/>
                <a:ea typeface="Source Sans 3" pitchFamily="34" charset="-122"/>
                <a:cs typeface="Source Sans 3" pitchFamily="34" charset="-120"/>
              </a:rPr>
              <a:t>Sistema de Gestión de Calidad. Aplicable a organizaciones de software para garantizar procesos consistentes y productos que satisfacen al cliente.</a:t>
            </a:r>
            <a:endParaRPr lang="en-US" sz="950" dirty="0"/>
          </a:p>
        </p:txBody>
      </p:sp>
      <p:sp>
        <p:nvSpPr>
          <p:cNvPr id="10" name="Shape 8"/>
          <p:cNvSpPr/>
          <p:nvPr/>
        </p:nvSpPr>
        <p:spPr>
          <a:xfrm>
            <a:off x="4572000" y="2014389"/>
            <a:ext cx="4081090" cy="875109"/>
          </a:xfrm>
          <a:prstGeom prst="rect">
            <a:avLst/>
          </a:prstGeom>
          <a:solidFill>
            <a:srgbClr val="444752"/>
          </a:solidFill>
          <a:ln/>
        </p:spPr>
      </p:sp>
      <p:sp>
        <p:nvSpPr>
          <p:cNvPr id="11" name="Shape 9"/>
          <p:cNvSpPr/>
          <p:nvPr/>
        </p:nvSpPr>
        <p:spPr>
          <a:xfrm>
            <a:off x="4572000" y="2014389"/>
            <a:ext cx="14288" cy="875109"/>
          </a:xfrm>
          <a:prstGeom prst="roundRect">
            <a:avLst>
              <a:gd name="adj" fmla="val 128845"/>
            </a:avLst>
          </a:prstGeom>
          <a:solidFill>
            <a:srgbClr val="5D606B"/>
          </a:solidFill>
          <a:ln/>
        </p:spPr>
      </p:sp>
      <p:sp>
        <p:nvSpPr>
          <p:cNvPr id="12" name="Text 10"/>
          <p:cNvSpPr/>
          <p:nvPr/>
        </p:nvSpPr>
        <p:spPr>
          <a:xfrm>
            <a:off x="4694709" y="2137097"/>
            <a:ext cx="1443856" cy="180454"/>
          </a:xfrm>
          <a:prstGeom prst="rect">
            <a:avLst/>
          </a:prstGeom>
          <a:noFill/>
          <a:ln/>
        </p:spPr>
        <p:txBody>
          <a:bodyPr wrap="none" lIns="0" tIns="0" rIns="0" bIns="0" rtlCol="0" anchor="t"/>
          <a:lstStyle/>
          <a:p>
            <a:pPr marL="0" indent="0" algn="l">
              <a:lnSpc>
                <a:spcPct val="104000"/>
              </a:lnSpc>
              <a:buNone/>
            </a:pPr>
            <a:r>
              <a:rPr lang="en-US" sz="1100" dirty="0">
                <a:solidFill>
                  <a:srgbClr val="D6E5EF"/>
                </a:solidFill>
                <a:latin typeface="Lora" pitchFamily="34" charset="0"/>
                <a:ea typeface="Lora" pitchFamily="34" charset="-122"/>
                <a:cs typeface="Lora" pitchFamily="34" charset="-120"/>
              </a:rPr>
              <a:t>ISO/IEC 27001</a:t>
            </a:r>
            <a:endParaRPr lang="en-US" sz="1100" dirty="0"/>
          </a:p>
        </p:txBody>
      </p:sp>
      <p:sp>
        <p:nvSpPr>
          <p:cNvPr id="13" name="Text 11"/>
          <p:cNvSpPr/>
          <p:nvPr/>
        </p:nvSpPr>
        <p:spPr>
          <a:xfrm>
            <a:off x="4694709" y="2386533"/>
            <a:ext cx="3835673" cy="380256"/>
          </a:xfrm>
          <a:prstGeom prst="rect">
            <a:avLst/>
          </a:prstGeom>
          <a:noFill/>
          <a:ln/>
        </p:spPr>
        <p:txBody>
          <a:bodyPr wrap="square" lIns="0" tIns="0" rIns="0" bIns="0" rtlCol="0" anchor="t">
            <a:normAutofit/>
          </a:bodyPr>
          <a:lstStyle/>
          <a:p>
            <a:pPr marL="0" indent="0" algn="l">
              <a:lnSpc>
                <a:spcPct val="129000"/>
              </a:lnSpc>
              <a:buNone/>
            </a:pPr>
            <a:r>
              <a:rPr lang="en-US" sz="950" dirty="0">
                <a:solidFill>
                  <a:srgbClr val="D6E5EF"/>
                </a:solidFill>
                <a:latin typeface="Source Sans 3" pitchFamily="34" charset="0"/>
                <a:ea typeface="Source Sans 3" pitchFamily="34" charset="-122"/>
                <a:cs typeface="Source Sans 3" pitchFamily="34" charset="-120"/>
              </a:rPr>
              <a:t>Seguridad de la Información. Establece requisitos para un sistema de gestión de seguridad de la información (SGSI) en entornos tecnológicos.</a:t>
            </a:r>
            <a:endParaRPr lang="en-US" sz="950" dirty="0"/>
          </a:p>
        </p:txBody>
      </p:sp>
      <p:sp>
        <p:nvSpPr>
          <p:cNvPr id="14" name="Shape 12"/>
          <p:cNvSpPr/>
          <p:nvPr/>
        </p:nvSpPr>
        <p:spPr>
          <a:xfrm>
            <a:off x="490910" y="2889498"/>
            <a:ext cx="4081090" cy="875109"/>
          </a:xfrm>
          <a:prstGeom prst="rect">
            <a:avLst/>
          </a:prstGeom>
          <a:solidFill>
            <a:srgbClr val="444752"/>
          </a:solidFill>
          <a:ln/>
        </p:spPr>
      </p:sp>
      <p:sp>
        <p:nvSpPr>
          <p:cNvPr id="15" name="Shape 13"/>
          <p:cNvSpPr/>
          <p:nvPr/>
        </p:nvSpPr>
        <p:spPr>
          <a:xfrm>
            <a:off x="490910" y="2889498"/>
            <a:ext cx="4081090" cy="14288"/>
          </a:xfrm>
          <a:prstGeom prst="roundRect">
            <a:avLst>
              <a:gd name="adj" fmla="val 128845"/>
            </a:avLst>
          </a:prstGeom>
          <a:solidFill>
            <a:srgbClr val="5D606B"/>
          </a:solidFill>
          <a:ln/>
        </p:spPr>
      </p:sp>
      <p:sp>
        <p:nvSpPr>
          <p:cNvPr id="16" name="Text 14"/>
          <p:cNvSpPr/>
          <p:nvPr/>
        </p:nvSpPr>
        <p:spPr>
          <a:xfrm>
            <a:off x="613618" y="3012207"/>
            <a:ext cx="1443856" cy="180454"/>
          </a:xfrm>
          <a:prstGeom prst="rect">
            <a:avLst/>
          </a:prstGeom>
          <a:noFill/>
          <a:ln/>
        </p:spPr>
        <p:txBody>
          <a:bodyPr wrap="none" lIns="0" tIns="0" rIns="0" bIns="0" rtlCol="0" anchor="t"/>
          <a:lstStyle/>
          <a:p>
            <a:pPr marL="0" indent="0" algn="l">
              <a:lnSpc>
                <a:spcPct val="104000"/>
              </a:lnSpc>
              <a:buNone/>
            </a:pPr>
            <a:r>
              <a:rPr lang="en-US" sz="1100" dirty="0">
                <a:solidFill>
                  <a:srgbClr val="D6E5EF"/>
                </a:solidFill>
                <a:latin typeface="Lora" pitchFamily="34" charset="0"/>
                <a:ea typeface="Lora" pitchFamily="34" charset="-122"/>
                <a:cs typeface="Lora" pitchFamily="34" charset="-120"/>
              </a:rPr>
              <a:t>ISO/IEC 12207</a:t>
            </a:r>
            <a:endParaRPr lang="en-US" sz="1100" dirty="0"/>
          </a:p>
        </p:txBody>
      </p:sp>
      <p:sp>
        <p:nvSpPr>
          <p:cNvPr id="17" name="Text 15"/>
          <p:cNvSpPr/>
          <p:nvPr/>
        </p:nvSpPr>
        <p:spPr>
          <a:xfrm>
            <a:off x="613618" y="3261643"/>
            <a:ext cx="3835673" cy="380256"/>
          </a:xfrm>
          <a:prstGeom prst="rect">
            <a:avLst/>
          </a:prstGeom>
          <a:noFill/>
          <a:ln/>
        </p:spPr>
        <p:txBody>
          <a:bodyPr wrap="square" lIns="0" tIns="0" rIns="0" bIns="0" rtlCol="0" anchor="t">
            <a:normAutofit/>
          </a:bodyPr>
          <a:lstStyle/>
          <a:p>
            <a:pPr marL="0" indent="0" algn="l">
              <a:lnSpc>
                <a:spcPct val="129000"/>
              </a:lnSpc>
              <a:buNone/>
            </a:pPr>
            <a:r>
              <a:rPr lang="en-US" sz="950" dirty="0">
                <a:solidFill>
                  <a:srgbClr val="D6E5EF"/>
                </a:solidFill>
                <a:latin typeface="Source Sans 3" pitchFamily="34" charset="0"/>
                <a:ea typeface="Source Sans 3" pitchFamily="34" charset="-122"/>
                <a:cs typeface="Source Sans 3" pitchFamily="34" charset="-120"/>
              </a:rPr>
              <a:t>Procesos del Ciclo de Vida del Software. Define las actividades, tareas y procesos que deben ocurrir durante el desarrollo de software.</a:t>
            </a:r>
            <a:endParaRPr lang="en-US" sz="950" dirty="0"/>
          </a:p>
        </p:txBody>
      </p:sp>
      <p:sp>
        <p:nvSpPr>
          <p:cNvPr id="18" name="Shape 16"/>
          <p:cNvSpPr/>
          <p:nvPr/>
        </p:nvSpPr>
        <p:spPr>
          <a:xfrm>
            <a:off x="4572000" y="2889498"/>
            <a:ext cx="4081090" cy="875109"/>
          </a:xfrm>
          <a:prstGeom prst="rect">
            <a:avLst/>
          </a:prstGeom>
          <a:solidFill>
            <a:srgbClr val="444752"/>
          </a:solidFill>
          <a:ln/>
        </p:spPr>
      </p:sp>
      <p:sp>
        <p:nvSpPr>
          <p:cNvPr id="19" name="Shape 17"/>
          <p:cNvSpPr/>
          <p:nvPr/>
        </p:nvSpPr>
        <p:spPr>
          <a:xfrm>
            <a:off x="4572000" y="2889498"/>
            <a:ext cx="14288" cy="875109"/>
          </a:xfrm>
          <a:prstGeom prst="roundRect">
            <a:avLst>
              <a:gd name="adj" fmla="val 128845"/>
            </a:avLst>
          </a:prstGeom>
          <a:solidFill>
            <a:srgbClr val="5D606B"/>
          </a:solidFill>
          <a:ln/>
        </p:spPr>
      </p:sp>
      <p:sp>
        <p:nvSpPr>
          <p:cNvPr id="20" name="Shape 18"/>
          <p:cNvSpPr/>
          <p:nvPr/>
        </p:nvSpPr>
        <p:spPr>
          <a:xfrm>
            <a:off x="4572000" y="2889498"/>
            <a:ext cx="4081090" cy="14288"/>
          </a:xfrm>
          <a:prstGeom prst="roundRect">
            <a:avLst>
              <a:gd name="adj" fmla="val 128845"/>
            </a:avLst>
          </a:prstGeom>
          <a:solidFill>
            <a:srgbClr val="5D606B"/>
          </a:solidFill>
          <a:ln/>
        </p:spPr>
      </p:sp>
      <p:sp>
        <p:nvSpPr>
          <p:cNvPr id="21" name="Text 19"/>
          <p:cNvSpPr/>
          <p:nvPr/>
        </p:nvSpPr>
        <p:spPr>
          <a:xfrm>
            <a:off x="4694709" y="3012207"/>
            <a:ext cx="1443856" cy="180454"/>
          </a:xfrm>
          <a:prstGeom prst="rect">
            <a:avLst/>
          </a:prstGeom>
          <a:noFill/>
          <a:ln/>
        </p:spPr>
        <p:txBody>
          <a:bodyPr wrap="none" lIns="0" tIns="0" rIns="0" bIns="0" rtlCol="0" anchor="t"/>
          <a:lstStyle/>
          <a:p>
            <a:pPr marL="0" indent="0" algn="l">
              <a:lnSpc>
                <a:spcPct val="104000"/>
              </a:lnSpc>
              <a:buNone/>
            </a:pPr>
            <a:r>
              <a:rPr lang="en-US" sz="1100" dirty="0">
                <a:solidFill>
                  <a:srgbClr val="D6E5EF"/>
                </a:solidFill>
                <a:latin typeface="Lora" pitchFamily="34" charset="0"/>
                <a:ea typeface="Lora" pitchFamily="34" charset="-122"/>
                <a:cs typeface="Lora" pitchFamily="34" charset="-120"/>
              </a:rPr>
              <a:t>ISO/IEC 25010</a:t>
            </a:r>
            <a:endParaRPr lang="en-US" sz="1100" dirty="0"/>
          </a:p>
        </p:txBody>
      </p:sp>
      <p:sp>
        <p:nvSpPr>
          <p:cNvPr id="22" name="Text 20"/>
          <p:cNvSpPr/>
          <p:nvPr/>
        </p:nvSpPr>
        <p:spPr>
          <a:xfrm>
            <a:off x="4694709" y="3261643"/>
            <a:ext cx="3835673" cy="380256"/>
          </a:xfrm>
          <a:prstGeom prst="rect">
            <a:avLst/>
          </a:prstGeom>
          <a:noFill/>
          <a:ln/>
        </p:spPr>
        <p:txBody>
          <a:bodyPr wrap="square" lIns="0" tIns="0" rIns="0" bIns="0" rtlCol="0" anchor="t">
            <a:normAutofit/>
          </a:bodyPr>
          <a:lstStyle/>
          <a:p>
            <a:pPr marL="0" indent="0" algn="l">
              <a:lnSpc>
                <a:spcPct val="129000"/>
              </a:lnSpc>
              <a:buNone/>
            </a:pPr>
            <a:r>
              <a:rPr lang="en-US" sz="950" dirty="0">
                <a:solidFill>
                  <a:srgbClr val="D6E5EF"/>
                </a:solidFill>
                <a:latin typeface="Source Sans 3" pitchFamily="34" charset="0"/>
                <a:ea typeface="Source Sans 3" pitchFamily="34" charset="-122"/>
                <a:cs typeface="Source Sans 3" pitchFamily="34" charset="-120"/>
              </a:rPr>
              <a:t>Modelo de Calidad del Producto Software. Evalúa atributos como funcionalidad, rendimiento, seguridad, usabilidad y mantenibilidad.</a:t>
            </a:r>
            <a:endParaRPr lang="en-US" sz="950" dirty="0"/>
          </a:p>
        </p:txBody>
      </p:sp>
      <p:sp>
        <p:nvSpPr>
          <p:cNvPr id="23" name="Shape 21"/>
          <p:cNvSpPr/>
          <p:nvPr/>
        </p:nvSpPr>
        <p:spPr>
          <a:xfrm>
            <a:off x="490910" y="3894013"/>
            <a:ext cx="8162181" cy="690786"/>
          </a:xfrm>
          <a:prstGeom prst="roundRect">
            <a:avLst>
              <a:gd name="adj" fmla="val 2665"/>
            </a:avLst>
          </a:prstGeom>
          <a:solidFill>
            <a:srgbClr val="183A13"/>
          </a:solidFill>
          <a:ln/>
        </p:spPr>
      </p:sp>
      <p:pic>
        <p:nvPicPr>
          <p:cNvPr id="24" name="Image 0" descr="preencoded.png"/>
          <p:cNvPicPr>
            <a:picLocks noChangeAspect="1"/>
          </p:cNvPicPr>
          <p:nvPr/>
        </p:nvPicPr>
        <p:blipFill>
          <a:blip r:embed="rId3"/>
          <a:stretch>
            <a:fillRect/>
          </a:stretch>
        </p:blipFill>
        <p:spPr>
          <a:xfrm>
            <a:off x="613618" y="4068589"/>
            <a:ext cx="153367" cy="122709"/>
          </a:xfrm>
          <a:prstGeom prst="rect">
            <a:avLst/>
          </a:prstGeom>
        </p:spPr>
      </p:pic>
      <p:sp>
        <p:nvSpPr>
          <p:cNvPr id="25" name="Text 22"/>
          <p:cNvSpPr/>
          <p:nvPr/>
        </p:nvSpPr>
        <p:spPr>
          <a:xfrm>
            <a:off x="889695" y="4039716"/>
            <a:ext cx="7640687" cy="380256"/>
          </a:xfrm>
          <a:prstGeom prst="rect">
            <a:avLst/>
          </a:prstGeom>
          <a:noFill/>
          <a:ln/>
        </p:spPr>
        <p:txBody>
          <a:bodyPr wrap="square" lIns="0" tIns="0" rIns="0" bIns="0" rtlCol="0" anchor="t">
            <a:normAutofit/>
          </a:bodyPr>
          <a:lstStyle/>
          <a:p>
            <a:pPr marL="0" indent="0" algn="l">
              <a:lnSpc>
                <a:spcPct val="129000"/>
              </a:lnSpc>
              <a:buNone/>
            </a:pPr>
            <a:r>
              <a:rPr lang="en-US" sz="950" b="1" dirty="0">
                <a:solidFill>
                  <a:srgbClr val="FFFFFF"/>
                </a:solidFill>
                <a:latin typeface="Source Sans 3" pitchFamily="34" charset="0"/>
                <a:ea typeface="Source Sans 3" pitchFamily="34" charset="-122"/>
                <a:cs typeface="Source Sans 3" pitchFamily="34" charset="-120"/>
              </a:rPr>
              <a:t>Beneficios clave:</a:t>
            </a:r>
            <a:r>
              <a:rPr lang="en-US" sz="950" dirty="0">
                <a:solidFill>
                  <a:srgbClr val="FFFFFF"/>
                </a:solidFill>
                <a:latin typeface="Source Sans 3" pitchFamily="34" charset="0"/>
                <a:ea typeface="Source Sans 3" pitchFamily="34" charset="-122"/>
                <a:cs typeface="Source Sans 3" pitchFamily="34" charset="-120"/>
              </a:rPr>
              <a:t> Mayor organización interna, productos más confiables, mejor experiencia para usuarios finales y reconocimiento internacional que facilita contratos con grandes organizaciones.</a:t>
            </a:r>
            <a:endParaRPr lang="en-US" sz="95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28464" y="302716"/>
            <a:ext cx="5944419" cy="288801"/>
          </a:xfrm>
          <a:prstGeom prst="rect">
            <a:avLst/>
          </a:prstGeom>
          <a:noFill/>
          <a:ln/>
        </p:spPr>
        <p:txBody>
          <a:bodyPr wrap="none" lIns="0" tIns="0" rIns="0" bIns="0" rtlCol="0" anchor="t"/>
          <a:lstStyle/>
          <a:p>
            <a:pPr marL="0" indent="0" algn="l">
              <a:lnSpc>
                <a:spcPct val="104000"/>
              </a:lnSpc>
              <a:buNone/>
            </a:pPr>
            <a:r>
              <a:rPr lang="en-US" sz="1800" dirty="0">
                <a:solidFill>
                  <a:srgbClr val="F98AC7"/>
                </a:solidFill>
                <a:latin typeface="Lora" pitchFamily="34" charset="0"/>
                <a:ea typeface="Lora" pitchFamily="34" charset="-122"/>
                <a:cs typeface="Lora" pitchFamily="34" charset="-120"/>
              </a:rPr>
              <a:t>W3C y WCAG 2.1: Estándares para la Web Accesible</a:t>
            </a:r>
            <a:endParaRPr lang="en-US" sz="1800" dirty="0"/>
          </a:p>
        </p:txBody>
      </p:sp>
      <p:sp>
        <p:nvSpPr>
          <p:cNvPr id="3" name="Shape 1"/>
          <p:cNvSpPr/>
          <p:nvPr/>
        </p:nvSpPr>
        <p:spPr>
          <a:xfrm>
            <a:off x="928464" y="743545"/>
            <a:ext cx="263277" cy="168771"/>
          </a:xfrm>
          <a:prstGeom prst="roundRect">
            <a:avLst>
              <a:gd name="adj" fmla="val 6981"/>
            </a:avLst>
          </a:prstGeom>
          <a:solidFill>
            <a:srgbClr val="49042A"/>
          </a:solidFill>
          <a:ln/>
        </p:spPr>
      </p:sp>
      <p:sp>
        <p:nvSpPr>
          <p:cNvPr id="4" name="Text 2"/>
          <p:cNvSpPr/>
          <p:nvPr/>
        </p:nvSpPr>
        <p:spPr>
          <a:xfrm>
            <a:off x="987326" y="772939"/>
            <a:ext cx="602754" cy="109984"/>
          </a:xfrm>
          <a:prstGeom prst="rect">
            <a:avLst/>
          </a:prstGeom>
          <a:noFill/>
          <a:ln/>
        </p:spPr>
        <p:txBody>
          <a:bodyPr wrap="none" lIns="0" tIns="0" rIns="0" bIns="0" rtlCol="0" anchor="t"/>
          <a:lstStyle/>
          <a:p>
            <a:pPr marL="0" indent="0" algn="l">
              <a:lnSpc>
                <a:spcPct val="117000"/>
              </a:lnSpc>
              <a:buNone/>
            </a:pPr>
            <a:r>
              <a:rPr lang="en-US" sz="600" dirty="0">
                <a:solidFill>
                  <a:srgbClr val="D6E5EF"/>
                </a:solidFill>
                <a:latin typeface="Source Sans 3" pitchFamily="34" charset="0"/>
                <a:ea typeface="Source Sans 3" pitchFamily="34" charset="-122"/>
                <a:cs typeface="Source Sans 3" pitchFamily="34" charset="-120"/>
              </a:rPr>
              <a:t>W3C</a:t>
            </a:r>
            <a:endParaRPr lang="en-US" sz="600" dirty="0"/>
          </a:p>
        </p:txBody>
      </p:sp>
      <p:sp>
        <p:nvSpPr>
          <p:cNvPr id="5" name="Shape 3"/>
          <p:cNvSpPr/>
          <p:nvPr/>
        </p:nvSpPr>
        <p:spPr>
          <a:xfrm>
            <a:off x="1240780" y="738783"/>
            <a:ext cx="789384" cy="178296"/>
          </a:xfrm>
          <a:prstGeom prst="roundRect">
            <a:avLst>
              <a:gd name="adj" fmla="val 6608"/>
            </a:avLst>
          </a:prstGeom>
          <a:noFill/>
          <a:ln w="4763">
            <a:solidFill>
              <a:srgbClr val="F98AC7"/>
            </a:solidFill>
            <a:prstDash val="solid"/>
          </a:ln>
        </p:spPr>
      </p:sp>
      <p:sp>
        <p:nvSpPr>
          <p:cNvPr id="6" name="Text 4"/>
          <p:cNvSpPr/>
          <p:nvPr/>
        </p:nvSpPr>
        <p:spPr>
          <a:xfrm>
            <a:off x="1304404" y="772939"/>
            <a:ext cx="1119336" cy="109984"/>
          </a:xfrm>
          <a:prstGeom prst="rect">
            <a:avLst/>
          </a:prstGeom>
          <a:noFill/>
          <a:ln/>
        </p:spPr>
        <p:txBody>
          <a:bodyPr wrap="none" lIns="0" tIns="0" rIns="0" bIns="0" rtlCol="0" anchor="t"/>
          <a:lstStyle/>
          <a:p>
            <a:pPr marL="0" indent="0" algn="l">
              <a:lnSpc>
                <a:spcPct val="117000"/>
              </a:lnSpc>
              <a:buNone/>
            </a:pPr>
            <a:r>
              <a:rPr lang="en-US" sz="600" dirty="0">
                <a:solidFill>
                  <a:srgbClr val="F98AC7"/>
                </a:solidFill>
                <a:latin typeface="Source Sans 3" pitchFamily="34" charset="0"/>
                <a:ea typeface="Source Sans 3" pitchFamily="34" charset="-122"/>
                <a:cs typeface="Source Sans 3" pitchFamily="34" charset="-120"/>
              </a:rPr>
              <a:t>ACCESIBILIDAD WEB</a:t>
            </a:r>
            <a:endParaRPr lang="en-US" sz="600" dirty="0"/>
          </a:p>
        </p:txBody>
      </p:sp>
      <p:sp>
        <p:nvSpPr>
          <p:cNvPr id="7" name="Text 5"/>
          <p:cNvSpPr/>
          <p:nvPr/>
        </p:nvSpPr>
        <p:spPr>
          <a:xfrm>
            <a:off x="928464" y="1073497"/>
            <a:ext cx="2033215" cy="144363"/>
          </a:xfrm>
          <a:prstGeom prst="rect">
            <a:avLst/>
          </a:prstGeom>
          <a:noFill/>
          <a:ln/>
        </p:spPr>
        <p:txBody>
          <a:bodyPr wrap="none" lIns="0" tIns="0" rIns="0" bIns="0" rtlCol="0" anchor="t"/>
          <a:lstStyle/>
          <a:p>
            <a:pPr marL="0" indent="0" algn="l">
              <a:lnSpc>
                <a:spcPct val="104000"/>
              </a:lnSpc>
              <a:buNone/>
            </a:pPr>
            <a:r>
              <a:rPr lang="en-US" sz="900" dirty="0">
                <a:solidFill>
                  <a:srgbClr val="F98AC7"/>
                </a:solidFill>
                <a:latin typeface="Lora" pitchFamily="34" charset="0"/>
                <a:ea typeface="Lora" pitchFamily="34" charset="-122"/>
                <a:cs typeface="Lora" pitchFamily="34" charset="-120"/>
              </a:rPr>
              <a:t>World Wide Web Consortium</a:t>
            </a:r>
            <a:endParaRPr lang="en-US" sz="900" dirty="0"/>
          </a:p>
        </p:txBody>
      </p:sp>
      <p:sp>
        <p:nvSpPr>
          <p:cNvPr id="8" name="Text 6"/>
          <p:cNvSpPr/>
          <p:nvPr/>
        </p:nvSpPr>
        <p:spPr>
          <a:xfrm>
            <a:off x="928464" y="1291456"/>
            <a:ext cx="3523729" cy="753070"/>
          </a:xfrm>
          <a:prstGeom prst="rect">
            <a:avLst/>
          </a:prstGeom>
          <a:noFill/>
          <a:ln/>
        </p:spPr>
        <p:txBody>
          <a:bodyPr wrap="square" lIns="0" tIns="0" rIns="0" bIns="0" rtlCol="0" anchor="t">
            <a:normAutofit/>
          </a:bodyPr>
          <a:lstStyle/>
          <a:p>
            <a:pPr marL="0" indent="0" algn="l">
              <a:lnSpc>
                <a:spcPct val="117000"/>
              </a:lnSpc>
              <a:buNone/>
            </a:pPr>
            <a:r>
              <a:rPr lang="en-US" sz="750" dirty="0">
                <a:solidFill>
                  <a:srgbClr val="D6E5EF"/>
                </a:solidFill>
                <a:latin typeface="Source Sans 3" pitchFamily="34" charset="0"/>
                <a:ea typeface="Source Sans 3" pitchFamily="34" charset="-122"/>
                <a:cs typeface="Source Sans 3" pitchFamily="34" charset="-120"/>
              </a:rPr>
              <a:t>El W3C es la organización internacional que desarrolla estándares para la World Wide Web. Su misión es garantizar que la web sea </a:t>
            </a:r>
            <a:r>
              <a:rPr lang="en-US" sz="750" b="1" dirty="0">
                <a:solidFill>
                  <a:srgbClr val="D6E5EF"/>
                </a:solidFill>
                <a:latin typeface="Source Sans 3" pitchFamily="34" charset="0"/>
                <a:ea typeface="Source Sans 3" pitchFamily="34" charset="-122"/>
                <a:cs typeface="Source Sans 3" pitchFamily="34" charset="-120"/>
              </a:rPr>
              <a:t>abierta, interoperable y accesible</a:t>
            </a:r>
            <a:r>
              <a:rPr lang="en-US" sz="750" dirty="0">
                <a:solidFill>
                  <a:srgbClr val="D6E5EF"/>
                </a:solidFill>
                <a:latin typeface="Source Sans 3" pitchFamily="34" charset="0"/>
                <a:ea typeface="Source Sans 3" pitchFamily="34" charset="-122"/>
                <a:cs typeface="Source Sans 3" pitchFamily="34" charset="-120"/>
              </a:rPr>
              <a:t> para todas las personas, independientemente de sus capacidades o dispositivos.</a:t>
            </a:r>
            <a:endParaRPr lang="en-US" sz="750" dirty="0"/>
          </a:p>
          <a:p>
            <a:pPr marL="0" indent="0" algn="l">
              <a:lnSpc>
                <a:spcPct val="117000"/>
              </a:lnSpc>
              <a:buNone/>
            </a:pPr>
            <a:r>
              <a:rPr lang="en-US" sz="750" dirty="0">
                <a:solidFill>
                  <a:srgbClr val="D6E5EF"/>
                </a:solidFill>
                <a:latin typeface="Source Sans 3" pitchFamily="34" charset="0"/>
                <a:ea typeface="Source Sans 3" pitchFamily="34" charset="-122"/>
                <a:cs typeface="Source Sans 3" pitchFamily="34" charset="-120"/>
              </a:rPr>
              <a:t>Entre sus estándares más relevantes se encuentran HTML, CSS, XML y las </a:t>
            </a:r>
            <a:r>
              <a:rPr lang="en-US" sz="750" b="1" dirty="0">
                <a:solidFill>
                  <a:srgbClr val="D6E5EF"/>
                </a:solidFill>
                <a:latin typeface="Source Sans 3" pitchFamily="34" charset="0"/>
                <a:ea typeface="Source Sans 3" pitchFamily="34" charset="-122"/>
                <a:cs typeface="Source Sans 3" pitchFamily="34" charset="-120"/>
              </a:rPr>
              <a:t>WCAG (Web Content Accessibility Guidelines)</a:t>
            </a:r>
            <a:r>
              <a:rPr lang="en-US" sz="750" dirty="0">
                <a:solidFill>
                  <a:srgbClr val="D6E5EF"/>
                </a:solidFill>
                <a:latin typeface="Source Sans 3" pitchFamily="34" charset="0"/>
                <a:ea typeface="Source Sans 3" pitchFamily="34" charset="-122"/>
                <a:cs typeface="Source Sans 3" pitchFamily="34" charset="-120"/>
              </a:rPr>
              <a:t>.</a:t>
            </a:r>
            <a:endParaRPr lang="en-US" sz="750" dirty="0"/>
          </a:p>
        </p:txBody>
      </p:sp>
      <p:sp>
        <p:nvSpPr>
          <p:cNvPr id="9" name="Text 7"/>
          <p:cNvSpPr/>
          <p:nvPr/>
        </p:nvSpPr>
        <p:spPr>
          <a:xfrm>
            <a:off x="928464" y="2118122"/>
            <a:ext cx="2463998" cy="144363"/>
          </a:xfrm>
          <a:prstGeom prst="rect">
            <a:avLst/>
          </a:prstGeom>
          <a:noFill/>
          <a:ln/>
        </p:spPr>
        <p:txBody>
          <a:bodyPr wrap="none" lIns="0" tIns="0" rIns="0" bIns="0" rtlCol="0" anchor="t"/>
          <a:lstStyle/>
          <a:p>
            <a:pPr marL="0" indent="0" algn="l">
              <a:lnSpc>
                <a:spcPct val="104000"/>
              </a:lnSpc>
              <a:buNone/>
            </a:pPr>
            <a:r>
              <a:rPr lang="en-US" sz="900" dirty="0">
                <a:solidFill>
                  <a:srgbClr val="F98AC7"/>
                </a:solidFill>
                <a:latin typeface="Lora" pitchFamily="34" charset="0"/>
                <a:ea typeface="Lora" pitchFamily="34" charset="-122"/>
                <a:cs typeface="Lora" pitchFamily="34" charset="-120"/>
              </a:rPr>
              <a:t>WCAG 2.1 – Principios fundamentales</a:t>
            </a:r>
            <a:endParaRPr lang="en-US" sz="900" dirty="0"/>
          </a:p>
        </p:txBody>
      </p:sp>
      <p:pic>
        <p:nvPicPr>
          <p:cNvPr id="10"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5225" y="2348285"/>
            <a:ext cx="147265" cy="147265"/>
          </a:xfrm>
          <a:prstGeom prst="rect">
            <a:avLst/>
          </a:prstGeom>
        </p:spPr>
      </p:pic>
      <p:sp>
        <p:nvSpPr>
          <p:cNvPr id="11" name="Text 8"/>
          <p:cNvSpPr/>
          <p:nvPr/>
        </p:nvSpPr>
        <p:spPr>
          <a:xfrm>
            <a:off x="1247477" y="2345308"/>
            <a:ext cx="1155055" cy="144363"/>
          </a:xfrm>
          <a:prstGeom prst="rect">
            <a:avLst/>
          </a:prstGeom>
          <a:noFill/>
          <a:ln/>
        </p:spPr>
        <p:txBody>
          <a:bodyPr wrap="none" lIns="0" tIns="0" rIns="0" bIns="0" rtlCol="0" anchor="t"/>
          <a:lstStyle/>
          <a:p>
            <a:pPr marL="0" indent="0" algn="l">
              <a:lnSpc>
                <a:spcPct val="104000"/>
              </a:lnSpc>
              <a:buNone/>
            </a:pPr>
            <a:r>
              <a:rPr lang="en-US" sz="900" dirty="0">
                <a:solidFill>
                  <a:srgbClr val="D6E5EF"/>
                </a:solidFill>
                <a:latin typeface="Lora" pitchFamily="34" charset="0"/>
                <a:ea typeface="Lora" pitchFamily="34" charset="-122"/>
                <a:cs typeface="Lora" pitchFamily="34" charset="-120"/>
              </a:rPr>
              <a:t>Perceptible</a:t>
            </a:r>
            <a:endParaRPr lang="en-US" sz="900" dirty="0"/>
          </a:p>
        </p:txBody>
      </p:sp>
      <p:sp>
        <p:nvSpPr>
          <p:cNvPr id="12" name="Text 9"/>
          <p:cNvSpPr/>
          <p:nvPr/>
        </p:nvSpPr>
        <p:spPr>
          <a:xfrm>
            <a:off x="1247477" y="2563267"/>
            <a:ext cx="3204716" cy="274737"/>
          </a:xfrm>
          <a:prstGeom prst="rect">
            <a:avLst/>
          </a:prstGeom>
          <a:noFill/>
          <a:ln/>
        </p:spPr>
        <p:txBody>
          <a:bodyPr wrap="square" lIns="0" tIns="0" rIns="0" bIns="0" rtlCol="0" anchor="t">
            <a:normAutofit/>
          </a:bodyPr>
          <a:lstStyle/>
          <a:p>
            <a:pPr marL="0" indent="0" algn="l">
              <a:lnSpc>
                <a:spcPct val="117000"/>
              </a:lnSpc>
              <a:buNone/>
            </a:pPr>
            <a:r>
              <a:rPr lang="en-US" sz="750" dirty="0">
                <a:solidFill>
                  <a:srgbClr val="D6E5EF"/>
                </a:solidFill>
                <a:latin typeface="Source Sans 3" pitchFamily="34" charset="0"/>
                <a:ea typeface="Source Sans 3" pitchFamily="34" charset="-122"/>
                <a:cs typeface="Source Sans 3" pitchFamily="34" charset="-120"/>
              </a:rPr>
              <a:t>La información debe presentarse de forma que los usuarios puedan percibirla (texto alternativo, contraste adecuado, subtítulos).</a:t>
            </a:r>
            <a:endParaRPr lang="en-US" sz="750" dirty="0"/>
          </a:p>
        </p:txBody>
      </p:sp>
      <p:pic>
        <p:nvPicPr>
          <p:cNvPr id="13"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5225" y="2988246"/>
            <a:ext cx="147265" cy="147265"/>
          </a:xfrm>
          <a:prstGeom prst="rect">
            <a:avLst/>
          </a:prstGeom>
        </p:spPr>
      </p:pic>
      <p:sp>
        <p:nvSpPr>
          <p:cNvPr id="14" name="Text 10"/>
          <p:cNvSpPr/>
          <p:nvPr/>
        </p:nvSpPr>
        <p:spPr>
          <a:xfrm>
            <a:off x="1247477" y="2985269"/>
            <a:ext cx="1155055" cy="144363"/>
          </a:xfrm>
          <a:prstGeom prst="rect">
            <a:avLst/>
          </a:prstGeom>
          <a:noFill/>
          <a:ln/>
        </p:spPr>
        <p:txBody>
          <a:bodyPr wrap="none" lIns="0" tIns="0" rIns="0" bIns="0" rtlCol="0" anchor="t"/>
          <a:lstStyle/>
          <a:p>
            <a:pPr marL="0" indent="0" algn="l">
              <a:lnSpc>
                <a:spcPct val="104000"/>
              </a:lnSpc>
              <a:buNone/>
            </a:pPr>
            <a:r>
              <a:rPr lang="en-US" sz="900" dirty="0">
                <a:solidFill>
                  <a:srgbClr val="D6E5EF"/>
                </a:solidFill>
                <a:latin typeface="Lora" pitchFamily="34" charset="0"/>
                <a:ea typeface="Lora" pitchFamily="34" charset="-122"/>
                <a:cs typeface="Lora" pitchFamily="34" charset="-120"/>
              </a:rPr>
              <a:t>Operable</a:t>
            </a:r>
            <a:endParaRPr lang="en-US" sz="900" dirty="0"/>
          </a:p>
        </p:txBody>
      </p:sp>
      <p:sp>
        <p:nvSpPr>
          <p:cNvPr id="15" name="Text 11"/>
          <p:cNvSpPr/>
          <p:nvPr/>
        </p:nvSpPr>
        <p:spPr>
          <a:xfrm>
            <a:off x="1247477" y="3203228"/>
            <a:ext cx="3204716" cy="274737"/>
          </a:xfrm>
          <a:prstGeom prst="rect">
            <a:avLst/>
          </a:prstGeom>
          <a:noFill/>
          <a:ln/>
        </p:spPr>
        <p:txBody>
          <a:bodyPr wrap="square" lIns="0" tIns="0" rIns="0" bIns="0" rtlCol="0" anchor="t">
            <a:normAutofit/>
          </a:bodyPr>
          <a:lstStyle/>
          <a:p>
            <a:pPr marL="0" indent="0" algn="l">
              <a:lnSpc>
                <a:spcPct val="117000"/>
              </a:lnSpc>
              <a:buNone/>
            </a:pPr>
            <a:r>
              <a:rPr lang="en-US" sz="750" dirty="0">
                <a:solidFill>
                  <a:srgbClr val="D6E5EF"/>
                </a:solidFill>
                <a:latin typeface="Source Sans 3" pitchFamily="34" charset="0"/>
                <a:ea typeface="Source Sans 3" pitchFamily="34" charset="-122"/>
                <a:cs typeface="Source Sans 3" pitchFamily="34" charset="-120"/>
              </a:rPr>
              <a:t>La interfaz debe ser navegable con teclado, sin tiempos límite estrictos y sin contenido que cause convulsiones.</a:t>
            </a:r>
            <a:endParaRPr lang="en-US" sz="750" dirty="0"/>
          </a:p>
        </p:txBody>
      </p:sp>
      <p:pic>
        <p:nvPicPr>
          <p:cNvPr id="16"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5225" y="3628206"/>
            <a:ext cx="147265" cy="147265"/>
          </a:xfrm>
          <a:prstGeom prst="rect">
            <a:avLst/>
          </a:prstGeom>
        </p:spPr>
      </p:pic>
      <p:sp>
        <p:nvSpPr>
          <p:cNvPr id="17" name="Text 12"/>
          <p:cNvSpPr/>
          <p:nvPr/>
        </p:nvSpPr>
        <p:spPr>
          <a:xfrm>
            <a:off x="1247477" y="3625230"/>
            <a:ext cx="1155055" cy="144363"/>
          </a:xfrm>
          <a:prstGeom prst="rect">
            <a:avLst/>
          </a:prstGeom>
          <a:noFill/>
          <a:ln/>
        </p:spPr>
        <p:txBody>
          <a:bodyPr wrap="none" lIns="0" tIns="0" rIns="0" bIns="0" rtlCol="0" anchor="t"/>
          <a:lstStyle/>
          <a:p>
            <a:pPr marL="0" indent="0" algn="l">
              <a:lnSpc>
                <a:spcPct val="104000"/>
              </a:lnSpc>
              <a:buNone/>
            </a:pPr>
            <a:r>
              <a:rPr lang="en-US" sz="900" dirty="0">
                <a:solidFill>
                  <a:srgbClr val="D6E5EF"/>
                </a:solidFill>
                <a:latin typeface="Lora" pitchFamily="34" charset="0"/>
                <a:ea typeface="Lora" pitchFamily="34" charset="-122"/>
                <a:cs typeface="Lora" pitchFamily="34" charset="-120"/>
              </a:rPr>
              <a:t>Comprensible</a:t>
            </a:r>
            <a:endParaRPr lang="en-US" sz="900" dirty="0"/>
          </a:p>
        </p:txBody>
      </p:sp>
      <p:sp>
        <p:nvSpPr>
          <p:cNvPr id="18" name="Text 13"/>
          <p:cNvSpPr/>
          <p:nvPr/>
        </p:nvSpPr>
        <p:spPr>
          <a:xfrm>
            <a:off x="1247477" y="3843189"/>
            <a:ext cx="3204716" cy="274737"/>
          </a:xfrm>
          <a:prstGeom prst="rect">
            <a:avLst/>
          </a:prstGeom>
          <a:noFill/>
          <a:ln/>
        </p:spPr>
        <p:txBody>
          <a:bodyPr wrap="square" lIns="0" tIns="0" rIns="0" bIns="0" rtlCol="0" anchor="t">
            <a:normAutofit/>
          </a:bodyPr>
          <a:lstStyle/>
          <a:p>
            <a:pPr marL="0" indent="0" algn="l">
              <a:lnSpc>
                <a:spcPct val="117000"/>
              </a:lnSpc>
              <a:buNone/>
            </a:pPr>
            <a:r>
              <a:rPr lang="en-US" sz="750" dirty="0">
                <a:solidFill>
                  <a:srgbClr val="D6E5EF"/>
                </a:solidFill>
                <a:latin typeface="Source Sans 3" pitchFamily="34" charset="0"/>
                <a:ea typeface="Source Sans 3" pitchFamily="34" charset="-122"/>
                <a:cs typeface="Source Sans 3" pitchFamily="34" charset="-120"/>
              </a:rPr>
              <a:t>El contenido debe ser legible, predecible y ayudar a los usuarios a evitar y corregir errores.</a:t>
            </a:r>
            <a:endParaRPr lang="en-US" sz="750" dirty="0"/>
          </a:p>
        </p:txBody>
      </p:sp>
      <p:pic>
        <p:nvPicPr>
          <p:cNvPr id="19"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5225" y="4268167"/>
            <a:ext cx="147265" cy="147265"/>
          </a:xfrm>
          <a:prstGeom prst="rect">
            <a:avLst/>
          </a:prstGeom>
        </p:spPr>
      </p:pic>
      <p:sp>
        <p:nvSpPr>
          <p:cNvPr id="20" name="Text 14"/>
          <p:cNvSpPr/>
          <p:nvPr/>
        </p:nvSpPr>
        <p:spPr>
          <a:xfrm>
            <a:off x="1247477" y="4265191"/>
            <a:ext cx="1155055" cy="144363"/>
          </a:xfrm>
          <a:prstGeom prst="rect">
            <a:avLst/>
          </a:prstGeom>
          <a:noFill/>
          <a:ln/>
        </p:spPr>
        <p:txBody>
          <a:bodyPr wrap="none" lIns="0" tIns="0" rIns="0" bIns="0" rtlCol="0" anchor="t"/>
          <a:lstStyle/>
          <a:p>
            <a:pPr marL="0" indent="0" algn="l">
              <a:lnSpc>
                <a:spcPct val="104000"/>
              </a:lnSpc>
              <a:buNone/>
            </a:pPr>
            <a:r>
              <a:rPr lang="en-US" sz="900" dirty="0">
                <a:solidFill>
                  <a:srgbClr val="D6E5EF"/>
                </a:solidFill>
                <a:latin typeface="Lora" pitchFamily="34" charset="0"/>
                <a:ea typeface="Lora" pitchFamily="34" charset="-122"/>
                <a:cs typeface="Lora" pitchFamily="34" charset="-120"/>
              </a:rPr>
              <a:t>Robusto</a:t>
            </a:r>
            <a:endParaRPr lang="en-US" sz="900" dirty="0"/>
          </a:p>
        </p:txBody>
      </p:sp>
      <p:sp>
        <p:nvSpPr>
          <p:cNvPr id="21" name="Text 15"/>
          <p:cNvSpPr/>
          <p:nvPr/>
        </p:nvSpPr>
        <p:spPr>
          <a:xfrm>
            <a:off x="1247477" y="4483150"/>
            <a:ext cx="3204716" cy="274737"/>
          </a:xfrm>
          <a:prstGeom prst="rect">
            <a:avLst/>
          </a:prstGeom>
          <a:noFill/>
          <a:ln/>
        </p:spPr>
        <p:txBody>
          <a:bodyPr wrap="square" lIns="0" tIns="0" rIns="0" bIns="0" rtlCol="0" anchor="t">
            <a:normAutofit/>
          </a:bodyPr>
          <a:lstStyle/>
          <a:p>
            <a:pPr marL="0" indent="0" algn="l">
              <a:lnSpc>
                <a:spcPct val="117000"/>
              </a:lnSpc>
              <a:buNone/>
            </a:pPr>
            <a:r>
              <a:rPr lang="en-US" sz="750" dirty="0">
                <a:solidFill>
                  <a:srgbClr val="D6E5EF"/>
                </a:solidFill>
                <a:latin typeface="Source Sans 3" pitchFamily="34" charset="0"/>
                <a:ea typeface="Source Sans 3" pitchFamily="34" charset="-122"/>
                <a:cs typeface="Source Sans 3" pitchFamily="34" charset="-120"/>
              </a:rPr>
              <a:t>El contenido debe ser interpretable por una amplia variedad de agentes de usuario, incluidas tecnologías de asistencia.</a:t>
            </a:r>
            <a:endParaRPr lang="en-US" sz="750" dirty="0"/>
          </a:p>
        </p:txBody>
      </p:sp>
      <p:pic>
        <p:nvPicPr>
          <p:cNvPr id="22" name="Image 4" descr="preencoded.png"/>
          <p:cNvPicPr>
            <a:picLocks noChangeAspect="1"/>
          </p:cNvPicPr>
          <p:nvPr/>
        </p:nvPicPr>
        <p:blipFill>
          <a:blip r:embed="rId5"/>
          <a:stretch>
            <a:fillRect/>
          </a:stretch>
        </p:blipFill>
        <p:spPr>
          <a:xfrm>
            <a:off x="4696420" y="1082725"/>
            <a:ext cx="3523729" cy="198789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763464" y="273025"/>
            <a:ext cx="4321597" cy="222572"/>
          </a:xfrm>
          <a:prstGeom prst="rect">
            <a:avLst/>
          </a:prstGeom>
          <a:noFill/>
          <a:ln/>
        </p:spPr>
        <p:txBody>
          <a:bodyPr wrap="none" lIns="0" tIns="0" rIns="0" bIns="0" rtlCol="0" anchor="t"/>
          <a:lstStyle/>
          <a:p>
            <a:pPr marL="0" indent="0" algn="l">
              <a:lnSpc>
                <a:spcPct val="104000"/>
              </a:lnSpc>
              <a:buNone/>
            </a:pPr>
            <a:r>
              <a:rPr lang="en-US" sz="1400" dirty="0">
                <a:solidFill>
                  <a:srgbClr val="F98AC7"/>
                </a:solidFill>
                <a:latin typeface="Lora" pitchFamily="34" charset="0"/>
                <a:ea typeface="Lora" pitchFamily="34" charset="-122"/>
                <a:cs typeface="Lora" pitchFamily="34" charset="-120"/>
              </a:rPr>
              <a:t>Documentación Técnica vs. Manual de Usuario</a:t>
            </a:r>
            <a:endParaRPr lang="en-US" sz="1400" dirty="0"/>
          </a:p>
        </p:txBody>
      </p:sp>
      <p:sp>
        <p:nvSpPr>
          <p:cNvPr id="3" name="Text 1"/>
          <p:cNvSpPr/>
          <p:nvPr/>
        </p:nvSpPr>
        <p:spPr>
          <a:xfrm>
            <a:off x="1763464" y="583034"/>
            <a:ext cx="5617071" cy="190946"/>
          </a:xfrm>
          <a:prstGeom prst="rect">
            <a:avLst/>
          </a:prstGeom>
          <a:noFill/>
          <a:ln/>
        </p:spPr>
        <p:txBody>
          <a:bodyPr wrap="square" lIns="0" tIns="0" rIns="0" bIns="0" rtlCol="0" anchor="t">
            <a:normAutofit/>
          </a:bodyPr>
          <a:lstStyle/>
          <a:p>
            <a:pPr marL="0" indent="0" algn="l">
              <a:lnSpc>
                <a:spcPct val="105000"/>
              </a:lnSpc>
              <a:buNone/>
            </a:pPr>
            <a:r>
              <a:rPr lang="en-US" sz="550" dirty="0">
                <a:solidFill>
                  <a:srgbClr val="D6E5EF"/>
                </a:solidFill>
                <a:latin typeface="Source Sans 3" pitchFamily="34" charset="0"/>
                <a:ea typeface="Source Sans 3" pitchFamily="34" charset="-122"/>
                <a:cs typeface="Source Sans 3" pitchFamily="34" charset="-120"/>
              </a:rPr>
              <a:t>Aunque ambos tipos de documentación son esenciales, sirven a propósitos y audiencias completamente diferentes. Confundirlos o mezclarlos es uno de los errores más comunes en los proyectos de software. Comprender sus diferencias permite crear cada documento con el enfoque adecuado.</a:t>
            </a:r>
            <a:endParaRPr lang="en-US" sz="550" dirty="0"/>
          </a:p>
        </p:txBody>
      </p:sp>
      <p:pic>
        <p:nvPicPr>
          <p:cNvPr id="4" name="Image 0" descr="preencoded.png"/>
          <p:cNvPicPr>
            <a:picLocks noChangeAspect="1"/>
          </p:cNvPicPr>
          <p:nvPr/>
        </p:nvPicPr>
        <p:blipFill>
          <a:blip r:embed="rId3"/>
          <a:stretch>
            <a:fillRect/>
          </a:stretch>
        </p:blipFill>
        <p:spPr>
          <a:xfrm>
            <a:off x="1763464" y="823168"/>
            <a:ext cx="5617071" cy="3135064"/>
          </a:xfrm>
          <a:prstGeom prst="rect">
            <a:avLst/>
          </a:prstGeom>
        </p:spPr>
      </p:pic>
      <p:pic>
        <p:nvPicPr>
          <p:cNvPr id="5" name="Image 1" descr="preencoded.png"/>
          <p:cNvPicPr>
            <a:picLocks noChangeAspect="1"/>
          </p:cNvPicPr>
          <p:nvPr/>
        </p:nvPicPr>
        <p:blipFill>
          <a:blip r:embed="rId4"/>
          <a:stretch>
            <a:fillRect/>
          </a:stretch>
        </p:blipFill>
        <p:spPr>
          <a:xfrm>
            <a:off x="1763464" y="823168"/>
            <a:ext cx="5617071" cy="3135064"/>
          </a:xfrm>
          <a:prstGeom prst="rect">
            <a:avLst/>
          </a:prstGeom>
        </p:spPr>
      </p:pic>
      <p:sp>
        <p:nvSpPr>
          <p:cNvPr id="6" name="Shape 2"/>
          <p:cNvSpPr/>
          <p:nvPr/>
        </p:nvSpPr>
        <p:spPr>
          <a:xfrm>
            <a:off x="1708993" y="4007421"/>
            <a:ext cx="2825204" cy="863054"/>
          </a:xfrm>
          <a:prstGeom prst="roundRect">
            <a:avLst>
              <a:gd name="adj" fmla="val 1315"/>
            </a:avLst>
          </a:prstGeom>
          <a:solidFill>
            <a:srgbClr val="F98AC7"/>
          </a:solidFill>
          <a:ln/>
        </p:spPr>
      </p:sp>
      <p:sp>
        <p:nvSpPr>
          <p:cNvPr id="7" name="Text 3"/>
          <p:cNvSpPr/>
          <p:nvPr/>
        </p:nvSpPr>
        <p:spPr>
          <a:xfrm>
            <a:off x="1784672" y="4051102"/>
            <a:ext cx="1459185" cy="111323"/>
          </a:xfrm>
          <a:prstGeom prst="rect">
            <a:avLst/>
          </a:prstGeom>
          <a:noFill/>
          <a:ln/>
        </p:spPr>
        <p:txBody>
          <a:bodyPr wrap="none" lIns="0" tIns="0" rIns="0" bIns="0" rtlCol="0" anchor="t"/>
          <a:lstStyle/>
          <a:p>
            <a:pPr marL="0" indent="0" algn="l">
              <a:lnSpc>
                <a:spcPct val="104000"/>
              </a:lnSpc>
              <a:buNone/>
            </a:pPr>
            <a:r>
              <a:rPr lang="en-US" sz="700" dirty="0">
                <a:solidFill>
                  <a:srgbClr val="000000"/>
                </a:solidFill>
                <a:latin typeface="Lora" pitchFamily="34" charset="0"/>
                <a:ea typeface="Lora" pitchFamily="34" charset="-122"/>
                <a:cs typeface="Lora" pitchFamily="34" charset="-120"/>
              </a:rPr>
              <a:t>Documentación Técnica</a:t>
            </a:r>
            <a:endParaRPr lang="en-US" sz="700" dirty="0"/>
          </a:p>
        </p:txBody>
      </p:sp>
      <p:sp>
        <p:nvSpPr>
          <p:cNvPr id="8" name="Text 4"/>
          <p:cNvSpPr/>
          <p:nvPr/>
        </p:nvSpPr>
        <p:spPr>
          <a:xfrm>
            <a:off x="1784672" y="4206106"/>
            <a:ext cx="2673846" cy="649114"/>
          </a:xfrm>
          <a:prstGeom prst="rect">
            <a:avLst/>
          </a:prstGeom>
          <a:noFill/>
          <a:ln/>
        </p:spPr>
        <p:txBody>
          <a:bodyPr wrap="square" lIns="0" tIns="0" rIns="0" bIns="0" rtlCol="0" anchor="t">
            <a:normAutofit/>
          </a:bodyPr>
          <a:lstStyle/>
          <a:p>
            <a:pPr marL="342900" indent="-342900" algn="l">
              <a:lnSpc>
                <a:spcPct val="105000"/>
              </a:lnSpc>
              <a:buSzPct val="100000"/>
              <a:buChar char="•"/>
            </a:pPr>
            <a:r>
              <a:rPr lang="en-US" sz="550" dirty="0">
                <a:solidFill>
                  <a:srgbClr val="000000"/>
                </a:solidFill>
                <a:latin typeface="Source Sans 3" pitchFamily="34" charset="0"/>
                <a:ea typeface="Source Sans 3" pitchFamily="34" charset="-122"/>
                <a:cs typeface="Source Sans 3" pitchFamily="34" charset="-120"/>
              </a:rPr>
              <a:t>Dirigida a desarrolladores e ingenieros del equipo</a:t>
            </a:r>
            <a:endParaRPr lang="en-US" sz="550" dirty="0"/>
          </a:p>
          <a:p>
            <a:pPr marL="342900" indent="-342900" algn="l">
              <a:lnSpc>
                <a:spcPct val="105000"/>
              </a:lnSpc>
              <a:buSzPct val="100000"/>
              <a:buChar char="•"/>
            </a:pPr>
            <a:r>
              <a:rPr lang="en-US" sz="550" dirty="0">
                <a:solidFill>
                  <a:srgbClr val="000000"/>
                </a:solidFill>
                <a:latin typeface="Source Sans 3" pitchFamily="34" charset="0"/>
                <a:ea typeface="Source Sans 3" pitchFamily="34" charset="-122"/>
                <a:cs typeface="Source Sans 3" pitchFamily="34" charset="-120"/>
              </a:rPr>
              <a:t>Explica la arquitectura y estructura interna del sistema</a:t>
            </a:r>
            <a:endParaRPr lang="en-US" sz="550" dirty="0"/>
          </a:p>
          <a:p>
            <a:pPr marL="342900" indent="-342900" algn="l">
              <a:lnSpc>
                <a:spcPct val="105000"/>
              </a:lnSpc>
              <a:buSzPct val="100000"/>
              <a:buChar char="•"/>
            </a:pPr>
            <a:r>
              <a:rPr lang="en-US" sz="550" dirty="0">
                <a:solidFill>
                  <a:srgbClr val="000000"/>
                </a:solidFill>
                <a:latin typeface="Source Sans 3" pitchFamily="34" charset="0"/>
                <a:ea typeface="Source Sans 3" pitchFamily="34" charset="-122"/>
                <a:cs typeface="Source Sans 3" pitchFamily="34" charset="-120"/>
              </a:rPr>
              <a:t>Contiene diagramas UML, esquemas de base de datos y fragmentos de código</a:t>
            </a:r>
            <a:endParaRPr lang="en-US" sz="550" dirty="0"/>
          </a:p>
          <a:p>
            <a:pPr marL="342900" indent="-342900" algn="l">
              <a:lnSpc>
                <a:spcPct val="105000"/>
              </a:lnSpc>
              <a:buSzPct val="100000"/>
              <a:buChar char="•"/>
            </a:pPr>
            <a:r>
              <a:rPr lang="en-US" sz="550" dirty="0">
                <a:solidFill>
                  <a:srgbClr val="000000"/>
                </a:solidFill>
                <a:latin typeface="Source Sans 3" pitchFamily="34" charset="0"/>
                <a:ea typeface="Source Sans 3" pitchFamily="34" charset="-122"/>
                <a:cs typeface="Source Sans 3" pitchFamily="34" charset="-120"/>
              </a:rPr>
              <a:t>Usa terminología técnica especializada</a:t>
            </a:r>
            <a:endParaRPr lang="en-US" sz="550" dirty="0"/>
          </a:p>
          <a:p>
            <a:pPr marL="342900" indent="-342900" algn="l">
              <a:lnSpc>
                <a:spcPct val="105000"/>
              </a:lnSpc>
              <a:buSzPct val="100000"/>
              <a:buChar char="•"/>
            </a:pPr>
            <a:r>
              <a:rPr lang="en-US" sz="550" dirty="0">
                <a:solidFill>
                  <a:srgbClr val="000000"/>
                </a:solidFill>
                <a:latin typeface="Source Sans 3" pitchFamily="34" charset="0"/>
                <a:ea typeface="Source Sans 3" pitchFamily="34" charset="-122"/>
                <a:cs typeface="Source Sans 3" pitchFamily="34" charset="-120"/>
              </a:rPr>
              <a:t>Sigue estándares como IEEE 830 e IEEE 1016</a:t>
            </a:r>
            <a:endParaRPr lang="en-US" sz="550" dirty="0"/>
          </a:p>
          <a:p>
            <a:pPr marL="342900" indent="-342900" algn="l">
              <a:lnSpc>
                <a:spcPct val="105000"/>
              </a:lnSpc>
              <a:buSzPct val="100000"/>
              <a:buChar char="•"/>
            </a:pPr>
            <a:r>
              <a:rPr lang="en-US" sz="550" dirty="0">
                <a:solidFill>
                  <a:srgbClr val="000000"/>
                </a:solidFill>
                <a:latin typeface="Source Sans 3" pitchFamily="34" charset="0"/>
                <a:ea typeface="Source Sans 3" pitchFamily="34" charset="-122"/>
                <a:cs typeface="Source Sans 3" pitchFamily="34" charset="-120"/>
              </a:rPr>
              <a:t>Se actualiza con cada cambio significativo en el código</a:t>
            </a:r>
            <a:endParaRPr lang="en-US" sz="550" dirty="0"/>
          </a:p>
        </p:txBody>
      </p:sp>
      <p:sp>
        <p:nvSpPr>
          <p:cNvPr id="9" name="Text 5"/>
          <p:cNvSpPr/>
          <p:nvPr/>
        </p:nvSpPr>
        <p:spPr>
          <a:xfrm>
            <a:off x="4669036" y="4051102"/>
            <a:ext cx="1347564" cy="111323"/>
          </a:xfrm>
          <a:prstGeom prst="rect">
            <a:avLst/>
          </a:prstGeom>
          <a:noFill/>
          <a:ln/>
        </p:spPr>
        <p:txBody>
          <a:bodyPr wrap="none" lIns="0" tIns="0" rIns="0" bIns="0" rtlCol="0" anchor="t"/>
          <a:lstStyle/>
          <a:p>
            <a:pPr marL="0" indent="0" algn="l">
              <a:lnSpc>
                <a:spcPct val="104000"/>
              </a:lnSpc>
              <a:buNone/>
            </a:pPr>
            <a:r>
              <a:rPr lang="en-US" sz="700" dirty="0">
                <a:solidFill>
                  <a:srgbClr val="F98AC7"/>
                </a:solidFill>
                <a:latin typeface="Lora" pitchFamily="34" charset="0"/>
                <a:ea typeface="Lora" pitchFamily="34" charset="-122"/>
                <a:cs typeface="Lora" pitchFamily="34" charset="-120"/>
              </a:rPr>
              <a:t>Manual de Usuario</a:t>
            </a:r>
            <a:endParaRPr lang="en-US" sz="700" dirty="0"/>
          </a:p>
        </p:txBody>
      </p:sp>
      <p:sp>
        <p:nvSpPr>
          <p:cNvPr id="10" name="Text 6"/>
          <p:cNvSpPr/>
          <p:nvPr/>
        </p:nvSpPr>
        <p:spPr>
          <a:xfrm>
            <a:off x="4669036" y="4206106"/>
            <a:ext cx="2716262" cy="649114"/>
          </a:xfrm>
          <a:prstGeom prst="rect">
            <a:avLst/>
          </a:prstGeom>
          <a:noFill/>
          <a:ln/>
        </p:spPr>
        <p:txBody>
          <a:bodyPr wrap="square" lIns="0" tIns="0" rIns="0" bIns="0" rtlCol="0" anchor="t">
            <a:normAutofit/>
          </a:bodyPr>
          <a:lstStyle/>
          <a:p>
            <a:pPr marL="342900" indent="-342900" algn="l">
              <a:lnSpc>
                <a:spcPct val="105000"/>
              </a:lnSpc>
              <a:buSzPct val="100000"/>
              <a:buChar char="•"/>
            </a:pPr>
            <a:r>
              <a:rPr lang="en-US" sz="550" dirty="0">
                <a:solidFill>
                  <a:srgbClr val="D6E5EF"/>
                </a:solidFill>
                <a:latin typeface="Source Sans 3" pitchFamily="34" charset="0"/>
                <a:ea typeface="Source Sans 3" pitchFamily="34" charset="-122"/>
                <a:cs typeface="Source Sans 3" pitchFamily="34" charset="-120"/>
              </a:rPr>
              <a:t>Dirigido al usuario final sin conocimientos técnicos</a:t>
            </a:r>
            <a:endParaRPr lang="en-US" sz="550" dirty="0"/>
          </a:p>
          <a:p>
            <a:pPr marL="342900" indent="-342900" algn="l">
              <a:lnSpc>
                <a:spcPct val="105000"/>
              </a:lnSpc>
              <a:buSzPct val="100000"/>
              <a:buChar char="•"/>
            </a:pPr>
            <a:r>
              <a:rPr lang="en-US" sz="550" dirty="0">
                <a:solidFill>
                  <a:srgbClr val="D6E5EF"/>
                </a:solidFill>
                <a:latin typeface="Source Sans 3" pitchFamily="34" charset="0"/>
                <a:ea typeface="Source Sans 3" pitchFamily="34" charset="-122"/>
                <a:cs typeface="Source Sans 3" pitchFamily="34" charset="-120"/>
              </a:rPr>
              <a:t>Explica cómo operar el sistema para alcanzar sus objetivos</a:t>
            </a:r>
            <a:endParaRPr lang="en-US" sz="550" dirty="0"/>
          </a:p>
          <a:p>
            <a:pPr marL="342900" indent="-342900" algn="l">
              <a:lnSpc>
                <a:spcPct val="105000"/>
              </a:lnSpc>
              <a:buSzPct val="100000"/>
              <a:buChar char="•"/>
            </a:pPr>
            <a:r>
              <a:rPr lang="en-US" sz="550" dirty="0">
                <a:solidFill>
                  <a:srgbClr val="D6E5EF"/>
                </a:solidFill>
                <a:latin typeface="Source Sans 3" pitchFamily="34" charset="0"/>
                <a:ea typeface="Source Sans 3" pitchFamily="34" charset="-122"/>
                <a:cs typeface="Source Sans 3" pitchFamily="34" charset="-120"/>
              </a:rPr>
              <a:t>Contiene capturas de pantalla, tutoriales paso a paso y FAQs</a:t>
            </a:r>
            <a:endParaRPr lang="en-US" sz="550" dirty="0"/>
          </a:p>
          <a:p>
            <a:pPr marL="342900" indent="-342900" algn="l">
              <a:lnSpc>
                <a:spcPct val="105000"/>
              </a:lnSpc>
              <a:buSzPct val="100000"/>
              <a:buChar char="•"/>
            </a:pPr>
            <a:r>
              <a:rPr lang="en-US" sz="550" dirty="0">
                <a:solidFill>
                  <a:srgbClr val="D6E5EF"/>
                </a:solidFill>
                <a:latin typeface="Source Sans 3" pitchFamily="34" charset="0"/>
                <a:ea typeface="Source Sans 3" pitchFamily="34" charset="-122"/>
                <a:cs typeface="Source Sans 3" pitchFamily="34" charset="-120"/>
              </a:rPr>
              <a:t>Usa lenguaje claro, directo y libre de jerga técnica</a:t>
            </a:r>
            <a:endParaRPr lang="en-US" sz="550" dirty="0"/>
          </a:p>
          <a:p>
            <a:pPr marL="342900" indent="-342900" algn="l">
              <a:lnSpc>
                <a:spcPct val="105000"/>
              </a:lnSpc>
              <a:buSzPct val="100000"/>
              <a:buChar char="•"/>
            </a:pPr>
            <a:r>
              <a:rPr lang="en-US" sz="550" dirty="0">
                <a:solidFill>
                  <a:srgbClr val="D6E5EF"/>
                </a:solidFill>
                <a:latin typeface="Source Sans 3" pitchFamily="34" charset="0"/>
                <a:ea typeface="Source Sans 3" pitchFamily="34" charset="-122"/>
                <a:cs typeface="Source Sans 3" pitchFamily="34" charset="-120"/>
              </a:rPr>
              <a:t>Sigue guías de usabilidad y accesibilidad (WCAG)</a:t>
            </a:r>
            <a:endParaRPr lang="en-US" sz="550" dirty="0"/>
          </a:p>
          <a:p>
            <a:pPr marL="342900" indent="-342900" algn="l">
              <a:lnSpc>
                <a:spcPct val="105000"/>
              </a:lnSpc>
              <a:buSzPct val="100000"/>
              <a:buChar char="•"/>
            </a:pPr>
            <a:r>
              <a:rPr lang="en-US" sz="550" dirty="0">
                <a:solidFill>
                  <a:srgbClr val="D6E5EF"/>
                </a:solidFill>
                <a:latin typeface="Source Sans 3" pitchFamily="34" charset="0"/>
                <a:ea typeface="Source Sans 3" pitchFamily="34" charset="-122"/>
                <a:cs typeface="Source Sans 3" pitchFamily="34" charset="-120"/>
              </a:rPr>
              <a:t>Se actualiza con cada nueva funcionalidad visible para el usuario</a:t>
            </a:r>
            <a:endParaRPr lang="en-US" sz="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953" y="340593"/>
            <a:ext cx="7328669" cy="318864"/>
          </a:xfrm>
          <a:prstGeom prst="rect">
            <a:avLst/>
          </a:prstGeom>
          <a:noFill/>
          <a:ln/>
        </p:spPr>
        <p:txBody>
          <a:bodyPr wrap="none" lIns="0" tIns="0" rIns="0" bIns="0" rtlCol="0" anchor="t"/>
          <a:lstStyle/>
          <a:p>
            <a:pPr marL="0" indent="0" algn="l">
              <a:lnSpc>
                <a:spcPct val="104000"/>
              </a:lnSpc>
              <a:buNone/>
            </a:pPr>
            <a:r>
              <a:rPr lang="en-US" sz="2000" dirty="0">
                <a:solidFill>
                  <a:srgbClr val="F98AC7"/>
                </a:solidFill>
                <a:latin typeface="Lora" pitchFamily="34" charset="0"/>
                <a:ea typeface="Lora" pitchFamily="34" charset="-122"/>
                <a:cs typeface="Lora" pitchFamily="34" charset="-120"/>
              </a:rPr>
              <a:t>Caso de Estudio: Sistema de Control de Inventario Escolar</a:t>
            </a:r>
            <a:endParaRPr lang="en-US" sz="2000" dirty="0"/>
          </a:p>
        </p:txBody>
      </p:sp>
      <p:sp>
        <p:nvSpPr>
          <p:cNvPr id="3" name="Shape 1"/>
          <p:cNvSpPr/>
          <p:nvPr/>
        </p:nvSpPr>
        <p:spPr>
          <a:xfrm>
            <a:off x="548953" y="838944"/>
            <a:ext cx="714003" cy="191765"/>
          </a:xfrm>
          <a:prstGeom prst="roundRect">
            <a:avLst>
              <a:gd name="adj" fmla="val 6784"/>
            </a:avLst>
          </a:prstGeom>
          <a:solidFill>
            <a:srgbClr val="49042A"/>
          </a:solidFill>
          <a:ln/>
        </p:spPr>
      </p:sp>
      <p:sp>
        <p:nvSpPr>
          <p:cNvPr id="4" name="Text 2"/>
          <p:cNvSpPr/>
          <p:nvPr/>
        </p:nvSpPr>
        <p:spPr>
          <a:xfrm>
            <a:off x="613990" y="871463"/>
            <a:ext cx="1041127" cy="126727"/>
          </a:xfrm>
          <a:prstGeom prst="rect">
            <a:avLst/>
          </a:prstGeom>
          <a:noFill/>
          <a:ln/>
        </p:spPr>
        <p:txBody>
          <a:bodyPr wrap="none" lIns="0" tIns="0" rIns="0" bIns="0" rtlCol="0" anchor="t"/>
          <a:lstStyle/>
          <a:p>
            <a:pPr marL="0" indent="0" algn="l">
              <a:lnSpc>
                <a:spcPct val="122000"/>
              </a:lnSpc>
              <a:buNone/>
            </a:pPr>
            <a:r>
              <a:rPr lang="en-US" sz="650" dirty="0">
                <a:solidFill>
                  <a:srgbClr val="D6E5EF"/>
                </a:solidFill>
                <a:latin typeface="Source Sans 3" pitchFamily="34" charset="0"/>
                <a:ea typeface="Source Sans 3" pitchFamily="34" charset="-122"/>
                <a:cs typeface="Source Sans 3" pitchFamily="34" charset="-120"/>
              </a:rPr>
              <a:t>CASO PRÁCTICO</a:t>
            </a:r>
            <a:endParaRPr lang="en-US" sz="650" dirty="0"/>
          </a:p>
        </p:txBody>
      </p:sp>
      <p:sp>
        <p:nvSpPr>
          <p:cNvPr id="5" name="Text 3"/>
          <p:cNvSpPr/>
          <p:nvPr/>
        </p:nvSpPr>
        <p:spPr>
          <a:xfrm>
            <a:off x="548953" y="1131689"/>
            <a:ext cx="8046095" cy="317004"/>
          </a:xfrm>
          <a:prstGeom prst="rect">
            <a:avLst/>
          </a:prstGeom>
          <a:noFill/>
          <a:ln/>
        </p:spPr>
        <p:txBody>
          <a:bodyPr wrap="square" lIns="0" tIns="0" rIns="0" bIns="0" rtlCol="0" anchor="t">
            <a:normAutofit/>
          </a:bodyPr>
          <a:lstStyle/>
          <a:p>
            <a:pPr marL="0" indent="0" algn="l">
              <a:lnSpc>
                <a:spcPct val="122000"/>
              </a:lnSpc>
              <a:buNone/>
            </a:pPr>
            <a:r>
              <a:rPr lang="en-US" sz="850" dirty="0">
                <a:solidFill>
                  <a:srgbClr val="D6E5EF"/>
                </a:solidFill>
                <a:latin typeface="Source Sans 3" pitchFamily="34" charset="0"/>
                <a:ea typeface="Source Sans 3" pitchFamily="34" charset="-122"/>
                <a:cs typeface="Source Sans 3" pitchFamily="34" charset="-120"/>
              </a:rPr>
              <a:t>Un sistema de control de inventario para una institución educativa es un ejemplo ideal para ilustrar la aplicación de los estándares de documentación. Este tipo de sistema maneja información sensible, múltiples tipos de usuarios y procesos críticos que deben estar perfectamente documentados.</a:t>
            </a:r>
            <a:endParaRPr lang="en-US" sz="850" dirty="0"/>
          </a:p>
        </p:txBody>
      </p:sp>
      <p:sp>
        <p:nvSpPr>
          <p:cNvPr id="6" name="Text 4"/>
          <p:cNvSpPr/>
          <p:nvPr/>
        </p:nvSpPr>
        <p:spPr>
          <a:xfrm>
            <a:off x="548953" y="1639416"/>
            <a:ext cx="2062609" cy="159395"/>
          </a:xfrm>
          <a:prstGeom prst="rect">
            <a:avLst/>
          </a:prstGeom>
          <a:noFill/>
          <a:ln/>
        </p:spPr>
        <p:txBody>
          <a:bodyPr wrap="none" lIns="0" tIns="0" rIns="0" bIns="0" rtlCol="0" anchor="t"/>
          <a:lstStyle/>
          <a:p>
            <a:pPr marL="0" indent="0" algn="l">
              <a:lnSpc>
                <a:spcPct val="104000"/>
              </a:lnSpc>
              <a:buNone/>
            </a:pPr>
            <a:r>
              <a:rPr lang="en-US" sz="1000" dirty="0">
                <a:solidFill>
                  <a:srgbClr val="F98AC7"/>
                </a:solidFill>
                <a:latin typeface="Lora" pitchFamily="34" charset="0"/>
                <a:ea typeface="Lora" pitchFamily="34" charset="-122"/>
                <a:cs typeface="Lora" pitchFamily="34" charset="-120"/>
              </a:rPr>
              <a:t>¿Qué se debe documentar?</a:t>
            </a:r>
            <a:endParaRPr lang="en-US" sz="1000" dirty="0"/>
          </a:p>
        </p:txBody>
      </p:sp>
      <p:sp>
        <p:nvSpPr>
          <p:cNvPr id="7" name="Shape 5"/>
          <p:cNvSpPr/>
          <p:nvPr/>
        </p:nvSpPr>
        <p:spPr>
          <a:xfrm>
            <a:off x="548953" y="1899791"/>
            <a:ext cx="1900535" cy="1435894"/>
          </a:xfrm>
          <a:prstGeom prst="roundRect">
            <a:avLst>
              <a:gd name="adj" fmla="val 1133"/>
            </a:avLst>
          </a:prstGeom>
          <a:solidFill>
            <a:srgbClr val="252833"/>
          </a:solidFill>
          <a:ln w="14288">
            <a:solidFill>
              <a:srgbClr val="5D606B"/>
            </a:solidFill>
            <a:prstDash val="solid"/>
          </a:ln>
        </p:spPr>
      </p:sp>
      <p:sp>
        <p:nvSpPr>
          <p:cNvPr id="8" name="Shape 6"/>
          <p:cNvSpPr/>
          <p:nvPr/>
        </p:nvSpPr>
        <p:spPr>
          <a:xfrm>
            <a:off x="563240" y="1914079"/>
            <a:ext cx="1871960" cy="325189"/>
          </a:xfrm>
          <a:prstGeom prst="rect">
            <a:avLst/>
          </a:prstGeom>
          <a:solidFill>
            <a:srgbClr val="444752"/>
          </a:solidFill>
          <a:ln/>
        </p:spPr>
      </p:sp>
      <p:sp>
        <p:nvSpPr>
          <p:cNvPr id="9" name="Text 7"/>
          <p:cNvSpPr/>
          <p:nvPr/>
        </p:nvSpPr>
        <p:spPr>
          <a:xfrm>
            <a:off x="1417886" y="1975024"/>
            <a:ext cx="162595" cy="203225"/>
          </a:xfrm>
          <a:prstGeom prst="rect">
            <a:avLst/>
          </a:prstGeom>
          <a:noFill/>
          <a:ln/>
        </p:spPr>
        <p:txBody>
          <a:bodyPr wrap="none" lIns="0" tIns="0" rIns="0" bIns="0" rtlCol="0" anchor="ctr"/>
          <a:lstStyle/>
          <a:p>
            <a:pPr marL="0" indent="0" algn="ctr">
              <a:lnSpc>
                <a:spcPct val="100000"/>
              </a:lnSpc>
              <a:buNone/>
            </a:pPr>
            <a:r>
              <a:rPr lang="en-US" sz="1250" dirty="0">
                <a:solidFill>
                  <a:srgbClr val="D6E5EF"/>
                </a:solidFill>
                <a:latin typeface="Lora" pitchFamily="34" charset="0"/>
                <a:ea typeface="Lora" pitchFamily="34" charset="-122"/>
                <a:cs typeface="Lora" pitchFamily="34" charset="-120"/>
              </a:rPr>
              <a:t>1</a:t>
            </a:r>
            <a:endParaRPr lang="en-US" sz="1250" dirty="0"/>
          </a:p>
        </p:txBody>
      </p:sp>
      <p:sp>
        <p:nvSpPr>
          <p:cNvPr id="10" name="Text 8"/>
          <p:cNvSpPr/>
          <p:nvPr/>
        </p:nvSpPr>
        <p:spPr>
          <a:xfrm>
            <a:off x="671587" y="2329011"/>
            <a:ext cx="1314673" cy="159395"/>
          </a:xfrm>
          <a:prstGeom prst="rect">
            <a:avLst/>
          </a:prstGeom>
          <a:noFill/>
          <a:ln/>
        </p:spPr>
        <p:txBody>
          <a:bodyPr wrap="none" lIns="0" tIns="0" rIns="0" bIns="0" rtlCol="0" anchor="t"/>
          <a:lstStyle/>
          <a:p>
            <a:pPr marL="0" indent="0" algn="l">
              <a:lnSpc>
                <a:spcPct val="104000"/>
              </a:lnSpc>
              <a:buNone/>
            </a:pPr>
            <a:r>
              <a:rPr lang="en-US" sz="1000" dirty="0">
                <a:solidFill>
                  <a:srgbClr val="D6E5EF"/>
                </a:solidFill>
                <a:latin typeface="Lora" pitchFamily="34" charset="0"/>
                <a:ea typeface="Lora" pitchFamily="34" charset="-122"/>
                <a:cs typeface="Lora" pitchFamily="34" charset="-120"/>
              </a:rPr>
              <a:t>Registro de productos</a:t>
            </a:r>
            <a:endParaRPr lang="en-US" sz="1000" dirty="0"/>
          </a:p>
        </p:txBody>
      </p:sp>
      <p:sp>
        <p:nvSpPr>
          <p:cNvPr id="11" name="Text 9"/>
          <p:cNvSpPr/>
          <p:nvPr/>
        </p:nvSpPr>
        <p:spPr>
          <a:xfrm>
            <a:off x="671587" y="2578150"/>
            <a:ext cx="1655266" cy="475506"/>
          </a:xfrm>
          <a:prstGeom prst="rect">
            <a:avLst/>
          </a:prstGeom>
          <a:noFill/>
          <a:ln/>
        </p:spPr>
        <p:txBody>
          <a:bodyPr wrap="square" lIns="0" tIns="0" rIns="0" bIns="0" rtlCol="0" anchor="t">
            <a:normAutofit/>
          </a:bodyPr>
          <a:lstStyle/>
          <a:p>
            <a:pPr marL="0" indent="0" algn="l">
              <a:lnSpc>
                <a:spcPct val="122000"/>
              </a:lnSpc>
              <a:buNone/>
            </a:pPr>
            <a:r>
              <a:rPr lang="en-US" sz="850" dirty="0">
                <a:solidFill>
                  <a:srgbClr val="D6E5EF"/>
                </a:solidFill>
                <a:latin typeface="Source Sans 3" pitchFamily="34" charset="0"/>
                <a:ea typeface="Source Sans 3" pitchFamily="34" charset="-122"/>
                <a:cs typeface="Source Sans 3" pitchFamily="34" charset="-120"/>
              </a:rPr>
              <a:t>Catálogo completo con códigos, categorías, cantidades y ubicaciones físicas de cada ítem del inventario.</a:t>
            </a:r>
            <a:endParaRPr lang="en-US" sz="850" dirty="0"/>
          </a:p>
        </p:txBody>
      </p:sp>
      <p:sp>
        <p:nvSpPr>
          <p:cNvPr id="12" name="Shape 10"/>
          <p:cNvSpPr/>
          <p:nvPr/>
        </p:nvSpPr>
        <p:spPr>
          <a:xfrm>
            <a:off x="2539231" y="1899791"/>
            <a:ext cx="1900535" cy="1435894"/>
          </a:xfrm>
          <a:prstGeom prst="roundRect">
            <a:avLst>
              <a:gd name="adj" fmla="val 1133"/>
            </a:avLst>
          </a:prstGeom>
          <a:solidFill>
            <a:srgbClr val="252833"/>
          </a:solidFill>
          <a:ln w="14288">
            <a:solidFill>
              <a:srgbClr val="5D606B"/>
            </a:solidFill>
            <a:prstDash val="solid"/>
          </a:ln>
        </p:spPr>
      </p:sp>
      <p:sp>
        <p:nvSpPr>
          <p:cNvPr id="13" name="Shape 11"/>
          <p:cNvSpPr/>
          <p:nvPr/>
        </p:nvSpPr>
        <p:spPr>
          <a:xfrm>
            <a:off x="2553519" y="1914079"/>
            <a:ext cx="1871960" cy="325189"/>
          </a:xfrm>
          <a:prstGeom prst="rect">
            <a:avLst/>
          </a:prstGeom>
          <a:solidFill>
            <a:srgbClr val="444752"/>
          </a:solidFill>
          <a:ln/>
        </p:spPr>
      </p:sp>
      <p:sp>
        <p:nvSpPr>
          <p:cNvPr id="14" name="Text 12"/>
          <p:cNvSpPr/>
          <p:nvPr/>
        </p:nvSpPr>
        <p:spPr>
          <a:xfrm>
            <a:off x="3408164" y="1975024"/>
            <a:ext cx="162595" cy="203225"/>
          </a:xfrm>
          <a:prstGeom prst="rect">
            <a:avLst/>
          </a:prstGeom>
          <a:noFill/>
          <a:ln/>
        </p:spPr>
        <p:txBody>
          <a:bodyPr wrap="none" lIns="0" tIns="0" rIns="0" bIns="0" rtlCol="0" anchor="ctr"/>
          <a:lstStyle/>
          <a:p>
            <a:pPr marL="0" indent="0" algn="ctr">
              <a:lnSpc>
                <a:spcPct val="100000"/>
              </a:lnSpc>
              <a:buNone/>
            </a:pPr>
            <a:r>
              <a:rPr lang="en-US" sz="1250" dirty="0">
                <a:solidFill>
                  <a:srgbClr val="D6E5EF"/>
                </a:solidFill>
                <a:latin typeface="Lora" pitchFamily="34" charset="0"/>
                <a:ea typeface="Lora" pitchFamily="34" charset="-122"/>
                <a:cs typeface="Lora" pitchFamily="34" charset="-120"/>
              </a:rPr>
              <a:t>2</a:t>
            </a:r>
            <a:endParaRPr lang="en-US" sz="1250" dirty="0"/>
          </a:p>
        </p:txBody>
      </p:sp>
      <p:sp>
        <p:nvSpPr>
          <p:cNvPr id="15" name="Text 13"/>
          <p:cNvSpPr/>
          <p:nvPr/>
        </p:nvSpPr>
        <p:spPr>
          <a:xfrm>
            <a:off x="2661865" y="2329011"/>
            <a:ext cx="1655266" cy="318790"/>
          </a:xfrm>
          <a:prstGeom prst="rect">
            <a:avLst/>
          </a:prstGeom>
          <a:noFill/>
          <a:ln/>
        </p:spPr>
        <p:txBody>
          <a:bodyPr wrap="square" lIns="0" tIns="0" rIns="0" bIns="0" rtlCol="0" anchor="t">
            <a:normAutofit/>
          </a:bodyPr>
          <a:lstStyle/>
          <a:p>
            <a:pPr marL="0" indent="0" algn="l">
              <a:lnSpc>
                <a:spcPct val="104000"/>
              </a:lnSpc>
              <a:buNone/>
            </a:pPr>
            <a:r>
              <a:rPr lang="en-US" sz="1000" dirty="0">
                <a:solidFill>
                  <a:srgbClr val="D6E5EF"/>
                </a:solidFill>
                <a:latin typeface="Lora" pitchFamily="34" charset="0"/>
                <a:ea typeface="Lora" pitchFamily="34" charset="-122"/>
                <a:cs typeface="Lora" pitchFamily="34" charset="-120"/>
              </a:rPr>
              <a:t>Control de entradas y salidas</a:t>
            </a:r>
            <a:endParaRPr lang="en-US" sz="1000" dirty="0"/>
          </a:p>
        </p:txBody>
      </p:sp>
      <p:sp>
        <p:nvSpPr>
          <p:cNvPr id="16" name="Text 14"/>
          <p:cNvSpPr/>
          <p:nvPr/>
        </p:nvSpPr>
        <p:spPr>
          <a:xfrm>
            <a:off x="2661865" y="2737545"/>
            <a:ext cx="1655266" cy="475506"/>
          </a:xfrm>
          <a:prstGeom prst="rect">
            <a:avLst/>
          </a:prstGeom>
          <a:noFill/>
          <a:ln/>
        </p:spPr>
        <p:txBody>
          <a:bodyPr wrap="square" lIns="0" tIns="0" rIns="0" bIns="0" rtlCol="0" anchor="t">
            <a:normAutofit/>
          </a:bodyPr>
          <a:lstStyle/>
          <a:p>
            <a:pPr marL="0" indent="0" algn="l">
              <a:lnSpc>
                <a:spcPct val="122000"/>
              </a:lnSpc>
              <a:buNone/>
            </a:pPr>
            <a:r>
              <a:rPr lang="en-US" sz="850" dirty="0">
                <a:solidFill>
                  <a:srgbClr val="D6E5EF"/>
                </a:solidFill>
                <a:latin typeface="Source Sans 3" pitchFamily="34" charset="0"/>
                <a:ea typeface="Source Sans 3" pitchFamily="34" charset="-122"/>
                <a:cs typeface="Source Sans 3" pitchFamily="34" charset="-120"/>
              </a:rPr>
              <a:t>Flujos de movimiento de materiales, registros de transacciones, responsables y fechas de operación.</a:t>
            </a:r>
            <a:endParaRPr lang="en-US" sz="850" dirty="0"/>
          </a:p>
        </p:txBody>
      </p:sp>
      <p:sp>
        <p:nvSpPr>
          <p:cNvPr id="17" name="Shape 15"/>
          <p:cNvSpPr/>
          <p:nvPr/>
        </p:nvSpPr>
        <p:spPr>
          <a:xfrm>
            <a:off x="548953" y="3425428"/>
            <a:ext cx="1900535" cy="1276499"/>
          </a:xfrm>
          <a:prstGeom prst="roundRect">
            <a:avLst>
              <a:gd name="adj" fmla="val 1274"/>
            </a:avLst>
          </a:prstGeom>
          <a:solidFill>
            <a:srgbClr val="252833"/>
          </a:solidFill>
          <a:ln w="14288">
            <a:solidFill>
              <a:srgbClr val="5D606B"/>
            </a:solidFill>
            <a:prstDash val="solid"/>
          </a:ln>
        </p:spPr>
      </p:sp>
      <p:sp>
        <p:nvSpPr>
          <p:cNvPr id="18" name="Shape 16"/>
          <p:cNvSpPr/>
          <p:nvPr/>
        </p:nvSpPr>
        <p:spPr>
          <a:xfrm>
            <a:off x="563240" y="3439716"/>
            <a:ext cx="1871960" cy="325189"/>
          </a:xfrm>
          <a:prstGeom prst="rect">
            <a:avLst/>
          </a:prstGeom>
          <a:solidFill>
            <a:srgbClr val="444752"/>
          </a:solidFill>
          <a:ln/>
        </p:spPr>
      </p:sp>
      <p:sp>
        <p:nvSpPr>
          <p:cNvPr id="19" name="Text 17"/>
          <p:cNvSpPr/>
          <p:nvPr/>
        </p:nvSpPr>
        <p:spPr>
          <a:xfrm>
            <a:off x="1417886" y="3500661"/>
            <a:ext cx="162595" cy="203225"/>
          </a:xfrm>
          <a:prstGeom prst="rect">
            <a:avLst/>
          </a:prstGeom>
          <a:noFill/>
          <a:ln/>
        </p:spPr>
        <p:txBody>
          <a:bodyPr wrap="none" lIns="0" tIns="0" rIns="0" bIns="0" rtlCol="0" anchor="ctr"/>
          <a:lstStyle/>
          <a:p>
            <a:pPr marL="0" indent="0" algn="ctr">
              <a:lnSpc>
                <a:spcPct val="100000"/>
              </a:lnSpc>
              <a:buNone/>
            </a:pPr>
            <a:r>
              <a:rPr lang="en-US" sz="1250" dirty="0">
                <a:solidFill>
                  <a:srgbClr val="D6E5EF"/>
                </a:solidFill>
                <a:latin typeface="Lora" pitchFamily="34" charset="0"/>
                <a:ea typeface="Lora" pitchFamily="34" charset="-122"/>
                <a:cs typeface="Lora" pitchFamily="34" charset="-120"/>
              </a:rPr>
              <a:t>3</a:t>
            </a:r>
            <a:endParaRPr lang="en-US" sz="1250" dirty="0"/>
          </a:p>
        </p:txBody>
      </p:sp>
      <p:sp>
        <p:nvSpPr>
          <p:cNvPr id="20" name="Text 18"/>
          <p:cNvSpPr/>
          <p:nvPr/>
        </p:nvSpPr>
        <p:spPr>
          <a:xfrm>
            <a:off x="671587" y="3854648"/>
            <a:ext cx="1275383" cy="159395"/>
          </a:xfrm>
          <a:prstGeom prst="rect">
            <a:avLst/>
          </a:prstGeom>
          <a:noFill/>
          <a:ln/>
        </p:spPr>
        <p:txBody>
          <a:bodyPr wrap="none" lIns="0" tIns="0" rIns="0" bIns="0" rtlCol="0" anchor="t"/>
          <a:lstStyle/>
          <a:p>
            <a:pPr marL="0" indent="0" algn="l">
              <a:lnSpc>
                <a:spcPct val="104000"/>
              </a:lnSpc>
              <a:buNone/>
            </a:pPr>
            <a:r>
              <a:rPr lang="en-US" sz="1000" dirty="0">
                <a:solidFill>
                  <a:srgbClr val="D6E5EF"/>
                </a:solidFill>
                <a:latin typeface="Lora" pitchFamily="34" charset="0"/>
                <a:ea typeface="Lora" pitchFamily="34" charset="-122"/>
                <a:cs typeface="Lora" pitchFamily="34" charset="-120"/>
              </a:rPr>
              <a:t>Usuarios y permisos</a:t>
            </a:r>
            <a:endParaRPr lang="en-US" sz="1000" dirty="0"/>
          </a:p>
        </p:txBody>
      </p:sp>
      <p:sp>
        <p:nvSpPr>
          <p:cNvPr id="21" name="Text 19"/>
          <p:cNvSpPr/>
          <p:nvPr/>
        </p:nvSpPr>
        <p:spPr>
          <a:xfrm>
            <a:off x="671587" y="4103787"/>
            <a:ext cx="1655266" cy="475506"/>
          </a:xfrm>
          <a:prstGeom prst="rect">
            <a:avLst/>
          </a:prstGeom>
          <a:noFill/>
          <a:ln/>
        </p:spPr>
        <p:txBody>
          <a:bodyPr wrap="square" lIns="0" tIns="0" rIns="0" bIns="0" rtlCol="0" anchor="t">
            <a:normAutofit/>
          </a:bodyPr>
          <a:lstStyle/>
          <a:p>
            <a:pPr marL="0" indent="0" algn="l">
              <a:lnSpc>
                <a:spcPct val="122000"/>
              </a:lnSpc>
              <a:buNone/>
            </a:pPr>
            <a:r>
              <a:rPr lang="en-US" sz="850" dirty="0">
                <a:solidFill>
                  <a:srgbClr val="D6E5EF"/>
                </a:solidFill>
                <a:latin typeface="Source Sans 3" pitchFamily="34" charset="0"/>
                <a:ea typeface="Source Sans 3" pitchFamily="34" charset="-122"/>
                <a:cs typeface="Source Sans 3" pitchFamily="34" charset="-120"/>
              </a:rPr>
              <a:t>Roles del sistema (administrador, almacenero, docente), niveles de acceso y políticas de seguridad.</a:t>
            </a:r>
            <a:endParaRPr lang="en-US" sz="850" dirty="0"/>
          </a:p>
        </p:txBody>
      </p:sp>
      <p:sp>
        <p:nvSpPr>
          <p:cNvPr id="22" name="Shape 20"/>
          <p:cNvSpPr/>
          <p:nvPr/>
        </p:nvSpPr>
        <p:spPr>
          <a:xfrm>
            <a:off x="2539231" y="3425428"/>
            <a:ext cx="1900535" cy="1276499"/>
          </a:xfrm>
          <a:prstGeom prst="roundRect">
            <a:avLst>
              <a:gd name="adj" fmla="val 1274"/>
            </a:avLst>
          </a:prstGeom>
          <a:solidFill>
            <a:srgbClr val="252833"/>
          </a:solidFill>
          <a:ln w="14288">
            <a:solidFill>
              <a:srgbClr val="5D606B"/>
            </a:solidFill>
            <a:prstDash val="solid"/>
          </a:ln>
        </p:spPr>
      </p:sp>
      <p:sp>
        <p:nvSpPr>
          <p:cNvPr id="23" name="Shape 21"/>
          <p:cNvSpPr/>
          <p:nvPr/>
        </p:nvSpPr>
        <p:spPr>
          <a:xfrm>
            <a:off x="2553519" y="3439716"/>
            <a:ext cx="1871960" cy="325189"/>
          </a:xfrm>
          <a:prstGeom prst="rect">
            <a:avLst/>
          </a:prstGeom>
          <a:solidFill>
            <a:srgbClr val="444752"/>
          </a:solidFill>
          <a:ln/>
        </p:spPr>
      </p:sp>
      <p:sp>
        <p:nvSpPr>
          <p:cNvPr id="24" name="Text 22"/>
          <p:cNvSpPr/>
          <p:nvPr/>
        </p:nvSpPr>
        <p:spPr>
          <a:xfrm>
            <a:off x="3408164" y="3500661"/>
            <a:ext cx="162595" cy="203225"/>
          </a:xfrm>
          <a:prstGeom prst="rect">
            <a:avLst/>
          </a:prstGeom>
          <a:noFill/>
          <a:ln/>
        </p:spPr>
        <p:txBody>
          <a:bodyPr wrap="none" lIns="0" tIns="0" rIns="0" bIns="0" rtlCol="0" anchor="ctr"/>
          <a:lstStyle/>
          <a:p>
            <a:pPr marL="0" indent="0" algn="ctr">
              <a:lnSpc>
                <a:spcPct val="100000"/>
              </a:lnSpc>
              <a:buNone/>
            </a:pPr>
            <a:r>
              <a:rPr lang="en-US" sz="1250" dirty="0">
                <a:solidFill>
                  <a:srgbClr val="D6E5EF"/>
                </a:solidFill>
                <a:latin typeface="Lora" pitchFamily="34" charset="0"/>
                <a:ea typeface="Lora" pitchFamily="34" charset="-122"/>
                <a:cs typeface="Lora" pitchFamily="34" charset="-120"/>
              </a:rPr>
              <a:t>4</a:t>
            </a:r>
            <a:endParaRPr lang="en-US" sz="1250" dirty="0"/>
          </a:p>
        </p:txBody>
      </p:sp>
      <p:sp>
        <p:nvSpPr>
          <p:cNvPr id="25" name="Text 23"/>
          <p:cNvSpPr/>
          <p:nvPr/>
        </p:nvSpPr>
        <p:spPr>
          <a:xfrm>
            <a:off x="2661865" y="3854648"/>
            <a:ext cx="1295772" cy="159395"/>
          </a:xfrm>
          <a:prstGeom prst="rect">
            <a:avLst/>
          </a:prstGeom>
          <a:noFill/>
          <a:ln/>
        </p:spPr>
        <p:txBody>
          <a:bodyPr wrap="none" lIns="0" tIns="0" rIns="0" bIns="0" rtlCol="0" anchor="t"/>
          <a:lstStyle/>
          <a:p>
            <a:pPr marL="0" indent="0" algn="l">
              <a:lnSpc>
                <a:spcPct val="104000"/>
              </a:lnSpc>
              <a:buNone/>
            </a:pPr>
            <a:r>
              <a:rPr lang="en-US" sz="1000" dirty="0">
                <a:solidFill>
                  <a:srgbClr val="D6E5EF"/>
                </a:solidFill>
                <a:latin typeface="Lora" pitchFamily="34" charset="0"/>
                <a:ea typeface="Lora" pitchFamily="34" charset="-122"/>
                <a:cs typeface="Lora" pitchFamily="34" charset="-120"/>
              </a:rPr>
              <a:t>Reportes automáticos</a:t>
            </a:r>
            <a:endParaRPr lang="en-US" sz="1000" dirty="0"/>
          </a:p>
        </p:txBody>
      </p:sp>
      <p:sp>
        <p:nvSpPr>
          <p:cNvPr id="26" name="Text 24"/>
          <p:cNvSpPr/>
          <p:nvPr/>
        </p:nvSpPr>
        <p:spPr>
          <a:xfrm>
            <a:off x="2661865" y="4103787"/>
            <a:ext cx="1655266" cy="475506"/>
          </a:xfrm>
          <a:prstGeom prst="rect">
            <a:avLst/>
          </a:prstGeom>
          <a:noFill/>
          <a:ln/>
        </p:spPr>
        <p:txBody>
          <a:bodyPr wrap="square" lIns="0" tIns="0" rIns="0" bIns="0" rtlCol="0" anchor="t">
            <a:normAutofit/>
          </a:bodyPr>
          <a:lstStyle/>
          <a:p>
            <a:pPr marL="0" indent="0" algn="l">
              <a:lnSpc>
                <a:spcPct val="122000"/>
              </a:lnSpc>
              <a:buNone/>
            </a:pPr>
            <a:r>
              <a:rPr lang="en-US" sz="850" dirty="0">
                <a:solidFill>
                  <a:srgbClr val="D6E5EF"/>
                </a:solidFill>
                <a:latin typeface="Source Sans 3" pitchFamily="34" charset="0"/>
                <a:ea typeface="Source Sans 3" pitchFamily="34" charset="-122"/>
                <a:cs typeface="Source Sans 3" pitchFamily="34" charset="-120"/>
              </a:rPr>
              <a:t>Informes de stock, alertas de reposición, historial de movimientos y exportación de datos.</a:t>
            </a:r>
            <a:endParaRPr lang="en-US" sz="850" dirty="0"/>
          </a:p>
        </p:txBody>
      </p:sp>
      <p:sp>
        <p:nvSpPr>
          <p:cNvPr id="27" name="Text 25"/>
          <p:cNvSpPr/>
          <p:nvPr/>
        </p:nvSpPr>
        <p:spPr>
          <a:xfrm>
            <a:off x="4708996" y="1639416"/>
            <a:ext cx="2858021" cy="159395"/>
          </a:xfrm>
          <a:prstGeom prst="rect">
            <a:avLst/>
          </a:prstGeom>
          <a:noFill/>
          <a:ln/>
        </p:spPr>
        <p:txBody>
          <a:bodyPr wrap="none" lIns="0" tIns="0" rIns="0" bIns="0" rtlCol="0" anchor="t"/>
          <a:lstStyle/>
          <a:p>
            <a:pPr marL="0" indent="0" algn="l">
              <a:lnSpc>
                <a:spcPct val="104000"/>
              </a:lnSpc>
              <a:buNone/>
            </a:pPr>
            <a:r>
              <a:rPr lang="en-US" sz="1000" dirty="0">
                <a:solidFill>
                  <a:srgbClr val="F98AC7"/>
                </a:solidFill>
                <a:latin typeface="Lora" pitchFamily="34" charset="0"/>
                <a:ea typeface="Lora" pitchFamily="34" charset="-122"/>
                <a:cs typeface="Lora" pitchFamily="34" charset="-120"/>
              </a:rPr>
              <a:t>Beneficios de una buena documentación</a:t>
            </a:r>
            <a:endParaRPr lang="en-US" sz="1000" dirty="0"/>
          </a:p>
        </p:txBody>
      </p:sp>
      <p:sp>
        <p:nvSpPr>
          <p:cNvPr id="28" name="Shape 26"/>
          <p:cNvSpPr/>
          <p:nvPr/>
        </p:nvSpPr>
        <p:spPr>
          <a:xfrm>
            <a:off x="4708996" y="1899791"/>
            <a:ext cx="1900535" cy="946100"/>
          </a:xfrm>
          <a:prstGeom prst="roundRect">
            <a:avLst>
              <a:gd name="adj" fmla="val 1719"/>
            </a:avLst>
          </a:prstGeom>
          <a:solidFill>
            <a:srgbClr val="444752"/>
          </a:solidFill>
          <a:ln/>
        </p:spPr>
      </p:sp>
      <p:sp>
        <p:nvSpPr>
          <p:cNvPr id="29" name="Text 27"/>
          <p:cNvSpPr/>
          <p:nvPr/>
        </p:nvSpPr>
        <p:spPr>
          <a:xfrm>
            <a:off x="4817343" y="2008138"/>
            <a:ext cx="1275383" cy="164157"/>
          </a:xfrm>
          <a:prstGeom prst="rect">
            <a:avLst/>
          </a:prstGeom>
          <a:noFill/>
          <a:ln/>
        </p:spPr>
        <p:txBody>
          <a:bodyPr wrap="none" lIns="0" tIns="0" rIns="0" bIns="0" rtlCol="0" anchor="t"/>
          <a:lstStyle/>
          <a:p>
            <a:pPr marL="0" indent="0" algn="l">
              <a:lnSpc>
                <a:spcPct val="104000"/>
              </a:lnSpc>
              <a:buNone/>
            </a:pPr>
            <a:r>
              <a:rPr lang="en-US" sz="1000" dirty="0">
                <a:solidFill>
                  <a:srgbClr val="000000"/>
                </a:solidFill>
                <a:latin typeface="Lora" pitchFamily="34" charset="0"/>
                <a:ea typeface="Lora" pitchFamily="34" charset="-122"/>
                <a:cs typeface="Lora" pitchFamily="34" charset="-120"/>
              </a:rPr>
              <a:t>🔧</a:t>
            </a:r>
            <a:r>
              <a:rPr lang="en-US" sz="1000" dirty="0">
                <a:solidFill>
                  <a:srgbClr val="D6E5EF"/>
                </a:solidFill>
                <a:latin typeface="Lora" pitchFamily="34" charset="0"/>
                <a:ea typeface="Lora" pitchFamily="34" charset="-122"/>
                <a:cs typeface="Lora" pitchFamily="34" charset="-120"/>
              </a:rPr>
              <a:t> Mantenimiento</a:t>
            </a:r>
            <a:endParaRPr lang="en-US" sz="1000" dirty="0"/>
          </a:p>
        </p:txBody>
      </p:sp>
      <p:sp>
        <p:nvSpPr>
          <p:cNvPr id="30" name="Text 28"/>
          <p:cNvSpPr/>
          <p:nvPr/>
        </p:nvSpPr>
        <p:spPr>
          <a:xfrm>
            <a:off x="4817343" y="2262039"/>
            <a:ext cx="1683841" cy="475506"/>
          </a:xfrm>
          <a:prstGeom prst="rect">
            <a:avLst/>
          </a:prstGeom>
          <a:noFill/>
          <a:ln/>
        </p:spPr>
        <p:txBody>
          <a:bodyPr wrap="square" lIns="0" tIns="0" rIns="0" bIns="0" rtlCol="0" anchor="t">
            <a:normAutofit/>
          </a:bodyPr>
          <a:lstStyle/>
          <a:p>
            <a:pPr marL="0" indent="0" algn="l">
              <a:lnSpc>
                <a:spcPct val="122000"/>
              </a:lnSpc>
              <a:buNone/>
            </a:pPr>
            <a:r>
              <a:rPr lang="en-US" sz="850" dirty="0">
                <a:solidFill>
                  <a:srgbClr val="D6E5EF"/>
                </a:solidFill>
                <a:latin typeface="Source Sans 3" pitchFamily="34" charset="0"/>
                <a:ea typeface="Source Sans 3" pitchFamily="34" charset="-122"/>
                <a:cs typeface="Source Sans 3" pitchFamily="34" charset="-120"/>
              </a:rPr>
              <a:t>Facilita la detección y corrección de errores sin afectar otras partes del sistema.</a:t>
            </a:r>
            <a:endParaRPr lang="en-US" sz="850" dirty="0"/>
          </a:p>
        </p:txBody>
      </p:sp>
      <p:sp>
        <p:nvSpPr>
          <p:cNvPr id="31" name="Shape 29"/>
          <p:cNvSpPr/>
          <p:nvPr/>
        </p:nvSpPr>
        <p:spPr>
          <a:xfrm>
            <a:off x="6699275" y="1899791"/>
            <a:ext cx="1900535" cy="946100"/>
          </a:xfrm>
          <a:prstGeom prst="roundRect">
            <a:avLst>
              <a:gd name="adj" fmla="val 1719"/>
            </a:avLst>
          </a:prstGeom>
          <a:solidFill>
            <a:srgbClr val="444752"/>
          </a:solidFill>
          <a:ln/>
        </p:spPr>
      </p:sp>
      <p:sp>
        <p:nvSpPr>
          <p:cNvPr id="32" name="Text 30"/>
          <p:cNvSpPr/>
          <p:nvPr/>
        </p:nvSpPr>
        <p:spPr>
          <a:xfrm>
            <a:off x="6807622" y="2008138"/>
            <a:ext cx="1275383" cy="164157"/>
          </a:xfrm>
          <a:prstGeom prst="rect">
            <a:avLst/>
          </a:prstGeom>
          <a:noFill/>
          <a:ln/>
        </p:spPr>
        <p:txBody>
          <a:bodyPr wrap="none" lIns="0" tIns="0" rIns="0" bIns="0" rtlCol="0" anchor="t"/>
          <a:lstStyle/>
          <a:p>
            <a:pPr marL="0" indent="0" algn="l">
              <a:lnSpc>
                <a:spcPct val="104000"/>
              </a:lnSpc>
              <a:buNone/>
            </a:pPr>
            <a:r>
              <a:rPr lang="en-US" sz="1000" dirty="0">
                <a:solidFill>
                  <a:srgbClr val="000000"/>
                </a:solidFill>
                <a:latin typeface="Lora" pitchFamily="34" charset="0"/>
                <a:ea typeface="Lora" pitchFamily="34" charset="-122"/>
                <a:cs typeface="Lora" pitchFamily="34" charset="-120"/>
              </a:rPr>
              <a:t>👥</a:t>
            </a:r>
            <a:r>
              <a:rPr lang="en-US" sz="1000" dirty="0">
                <a:solidFill>
                  <a:srgbClr val="D6E5EF"/>
                </a:solidFill>
                <a:latin typeface="Lora" pitchFamily="34" charset="0"/>
                <a:ea typeface="Lora" pitchFamily="34" charset="-122"/>
                <a:cs typeface="Lora" pitchFamily="34" charset="-120"/>
              </a:rPr>
              <a:t> Incorporación</a:t>
            </a:r>
            <a:endParaRPr lang="en-US" sz="1000" dirty="0"/>
          </a:p>
        </p:txBody>
      </p:sp>
      <p:sp>
        <p:nvSpPr>
          <p:cNvPr id="33" name="Text 31"/>
          <p:cNvSpPr/>
          <p:nvPr/>
        </p:nvSpPr>
        <p:spPr>
          <a:xfrm>
            <a:off x="6807622" y="2262039"/>
            <a:ext cx="1683841" cy="475506"/>
          </a:xfrm>
          <a:prstGeom prst="rect">
            <a:avLst/>
          </a:prstGeom>
          <a:noFill/>
          <a:ln/>
        </p:spPr>
        <p:txBody>
          <a:bodyPr wrap="square" lIns="0" tIns="0" rIns="0" bIns="0" rtlCol="0" anchor="t">
            <a:normAutofit/>
          </a:bodyPr>
          <a:lstStyle/>
          <a:p>
            <a:pPr marL="0" indent="0" algn="l">
              <a:lnSpc>
                <a:spcPct val="122000"/>
              </a:lnSpc>
              <a:buNone/>
            </a:pPr>
            <a:r>
              <a:rPr lang="en-US" sz="850" dirty="0">
                <a:solidFill>
                  <a:srgbClr val="D6E5EF"/>
                </a:solidFill>
                <a:latin typeface="Source Sans 3" pitchFamily="34" charset="0"/>
                <a:ea typeface="Source Sans 3" pitchFamily="34" charset="-122"/>
                <a:cs typeface="Source Sans 3" pitchFamily="34" charset="-120"/>
              </a:rPr>
              <a:t>Nuevos desarrolladores comprenden el sistema rápidamente gracias a la documentación estructurada.</a:t>
            </a:r>
            <a:endParaRPr lang="en-US" sz="850" dirty="0"/>
          </a:p>
        </p:txBody>
      </p:sp>
      <p:sp>
        <p:nvSpPr>
          <p:cNvPr id="34" name="Shape 32"/>
          <p:cNvSpPr/>
          <p:nvPr/>
        </p:nvSpPr>
        <p:spPr>
          <a:xfrm>
            <a:off x="4708996" y="2935635"/>
            <a:ext cx="3890814" cy="629096"/>
          </a:xfrm>
          <a:prstGeom prst="roundRect">
            <a:avLst>
              <a:gd name="adj" fmla="val 2585"/>
            </a:avLst>
          </a:prstGeom>
          <a:solidFill>
            <a:srgbClr val="444752"/>
          </a:solidFill>
          <a:ln/>
        </p:spPr>
      </p:sp>
      <p:sp>
        <p:nvSpPr>
          <p:cNvPr id="35" name="Text 33"/>
          <p:cNvSpPr/>
          <p:nvPr/>
        </p:nvSpPr>
        <p:spPr>
          <a:xfrm>
            <a:off x="4817343" y="3043982"/>
            <a:ext cx="1275383" cy="164157"/>
          </a:xfrm>
          <a:prstGeom prst="rect">
            <a:avLst/>
          </a:prstGeom>
          <a:noFill/>
          <a:ln/>
        </p:spPr>
        <p:txBody>
          <a:bodyPr wrap="none" lIns="0" tIns="0" rIns="0" bIns="0" rtlCol="0" anchor="t"/>
          <a:lstStyle/>
          <a:p>
            <a:pPr marL="0" indent="0" algn="l">
              <a:lnSpc>
                <a:spcPct val="104000"/>
              </a:lnSpc>
              <a:buNone/>
            </a:pPr>
            <a:r>
              <a:rPr lang="en-US" sz="1000" dirty="0">
                <a:solidFill>
                  <a:srgbClr val="000000"/>
                </a:solidFill>
                <a:latin typeface="Lora" pitchFamily="34" charset="0"/>
                <a:ea typeface="Lora" pitchFamily="34" charset="-122"/>
                <a:cs typeface="Lora" pitchFamily="34" charset="-120"/>
              </a:rPr>
              <a:t>📈</a:t>
            </a:r>
            <a:r>
              <a:rPr lang="en-US" sz="1000" dirty="0">
                <a:solidFill>
                  <a:srgbClr val="D6E5EF"/>
                </a:solidFill>
                <a:latin typeface="Lora" pitchFamily="34" charset="0"/>
                <a:ea typeface="Lora" pitchFamily="34" charset="-122"/>
                <a:cs typeface="Lora" pitchFamily="34" charset="-120"/>
              </a:rPr>
              <a:t> Escalabilidad</a:t>
            </a:r>
            <a:endParaRPr lang="en-US" sz="1000" dirty="0"/>
          </a:p>
        </p:txBody>
      </p:sp>
      <p:sp>
        <p:nvSpPr>
          <p:cNvPr id="36" name="Text 34"/>
          <p:cNvSpPr/>
          <p:nvPr/>
        </p:nvSpPr>
        <p:spPr>
          <a:xfrm>
            <a:off x="4817343" y="3297882"/>
            <a:ext cx="3674120" cy="158502"/>
          </a:xfrm>
          <a:prstGeom prst="rect">
            <a:avLst/>
          </a:prstGeom>
          <a:noFill/>
          <a:ln/>
        </p:spPr>
        <p:txBody>
          <a:bodyPr wrap="none" lIns="0" tIns="0" rIns="0" bIns="0" rtlCol="0" anchor="t"/>
          <a:lstStyle/>
          <a:p>
            <a:pPr marL="0" indent="0" algn="l">
              <a:lnSpc>
                <a:spcPct val="122000"/>
              </a:lnSpc>
              <a:buNone/>
            </a:pPr>
            <a:r>
              <a:rPr lang="en-US" sz="850" dirty="0">
                <a:solidFill>
                  <a:srgbClr val="D6E5EF"/>
                </a:solidFill>
                <a:latin typeface="Source Sans 3" pitchFamily="34" charset="0"/>
                <a:ea typeface="Source Sans 3" pitchFamily="34" charset="-122"/>
                <a:cs typeface="Source Sans 3" pitchFamily="34" charset="-120"/>
              </a:rPr>
              <a:t>Permite agregar nuevas funcionalidades sin romper la arquitectura existente.</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23577" y="374079"/>
            <a:ext cx="5065663" cy="384944"/>
          </a:xfrm>
          <a:prstGeom prst="rect">
            <a:avLst/>
          </a:prstGeom>
          <a:noFill/>
          <a:ln/>
        </p:spPr>
        <p:txBody>
          <a:bodyPr wrap="none" lIns="0" tIns="0" rIns="0" bIns="0" rtlCol="0" anchor="t"/>
          <a:lstStyle/>
          <a:p>
            <a:pPr marL="0" indent="0" algn="l">
              <a:lnSpc>
                <a:spcPct val="104000"/>
              </a:lnSpc>
              <a:buNone/>
            </a:pPr>
            <a:r>
              <a:rPr lang="en-US" sz="2400" dirty="0">
                <a:solidFill>
                  <a:srgbClr val="F98AC7"/>
                </a:solidFill>
                <a:latin typeface="Lora" pitchFamily="34" charset="0"/>
                <a:ea typeface="Lora" pitchFamily="34" charset="-122"/>
                <a:cs typeface="Lora" pitchFamily="34" charset="-120"/>
              </a:rPr>
              <a:t>Roles del Equipo y Conclusiones</a:t>
            </a:r>
            <a:endParaRPr lang="en-US" sz="2400" dirty="0"/>
          </a:p>
        </p:txBody>
      </p:sp>
      <p:sp>
        <p:nvSpPr>
          <p:cNvPr id="3" name="Text 1"/>
          <p:cNvSpPr/>
          <p:nvPr/>
        </p:nvSpPr>
        <p:spPr>
          <a:xfrm>
            <a:off x="523577" y="1020812"/>
            <a:ext cx="8096845" cy="418802"/>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6E5EF"/>
                </a:solidFill>
                <a:latin typeface="Source Sans 3" pitchFamily="34" charset="0"/>
                <a:ea typeface="Source Sans 3" pitchFamily="34" charset="-122"/>
                <a:cs typeface="Source Sans 3" pitchFamily="34" charset="-120"/>
              </a:rPr>
              <a:t>La documentación de calidad no surge de forma espontánea: requiere un equipo comprometido con roles bien definidos. Cada miembro contribuye desde su especialidad para garantizar que el proyecto cumpla con los estándares internacionales.</a:t>
            </a:r>
            <a:endParaRPr lang="en-US" sz="10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3577" y="1586880"/>
            <a:ext cx="327273" cy="327273"/>
          </a:xfrm>
          <a:prstGeom prst="rect">
            <a:avLst/>
          </a:prstGeom>
        </p:spPr>
      </p:pic>
      <p:sp>
        <p:nvSpPr>
          <p:cNvPr id="5" name="Text 2"/>
          <p:cNvSpPr/>
          <p:nvPr/>
        </p:nvSpPr>
        <p:spPr>
          <a:xfrm>
            <a:off x="1014487" y="1586880"/>
            <a:ext cx="1540073" cy="19250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Lora" pitchFamily="34" charset="0"/>
                <a:ea typeface="Lora" pitchFamily="34" charset="-122"/>
                <a:cs typeface="Lora" pitchFamily="34" charset="-120"/>
              </a:rPr>
              <a:t>Líder Técnico</a:t>
            </a:r>
            <a:endParaRPr lang="en-US" sz="1200" dirty="0"/>
          </a:p>
        </p:txBody>
      </p:sp>
      <p:sp>
        <p:nvSpPr>
          <p:cNvPr id="6" name="Text 3"/>
          <p:cNvSpPr/>
          <p:nvPr/>
        </p:nvSpPr>
        <p:spPr>
          <a:xfrm>
            <a:off x="1014487" y="1857896"/>
            <a:ext cx="3475658" cy="628204"/>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6E5EF"/>
                </a:solidFill>
                <a:latin typeface="Source Sans 3" pitchFamily="34" charset="0"/>
                <a:ea typeface="Source Sans 3" pitchFamily="34" charset="-122"/>
                <a:cs typeface="Source Sans 3" pitchFamily="34" charset="-120"/>
              </a:rPr>
              <a:t>Coordina el proyecto, supervisa el cumplimiento de estándares y toma decisiones arquitectónicas clave. Asegura que la documentación esté alineada con los objetivos del negocio.</a:t>
            </a:r>
            <a:endParaRPr lang="en-US" sz="1000"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53781" y="1586880"/>
            <a:ext cx="327273" cy="327273"/>
          </a:xfrm>
          <a:prstGeom prst="rect">
            <a:avLst/>
          </a:prstGeom>
        </p:spPr>
      </p:pic>
      <p:sp>
        <p:nvSpPr>
          <p:cNvPr id="8" name="Text 4"/>
          <p:cNvSpPr/>
          <p:nvPr/>
        </p:nvSpPr>
        <p:spPr>
          <a:xfrm>
            <a:off x="5144691" y="1586880"/>
            <a:ext cx="1540073" cy="19250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Lora" pitchFamily="34" charset="0"/>
                <a:ea typeface="Lora" pitchFamily="34" charset="-122"/>
                <a:cs typeface="Lora" pitchFamily="34" charset="-120"/>
              </a:rPr>
              <a:t>Redactor Técnico</a:t>
            </a:r>
            <a:endParaRPr lang="en-US" sz="1200" dirty="0"/>
          </a:p>
        </p:txBody>
      </p:sp>
      <p:sp>
        <p:nvSpPr>
          <p:cNvPr id="9" name="Text 5"/>
          <p:cNvSpPr/>
          <p:nvPr/>
        </p:nvSpPr>
        <p:spPr>
          <a:xfrm>
            <a:off x="5144691" y="1857896"/>
            <a:ext cx="3475732" cy="628204"/>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6E5EF"/>
                </a:solidFill>
                <a:latin typeface="Source Sans 3" pitchFamily="34" charset="0"/>
                <a:ea typeface="Source Sans 3" pitchFamily="34" charset="-122"/>
                <a:cs typeface="Source Sans 3" pitchFamily="34" charset="-120"/>
              </a:rPr>
              <a:t>Especialista en transformar conocimiento técnico en documentación clara y estructurada. Domina los estándares IEEE e ISO y los aplica consistentemente en cada entregable.</a:t>
            </a:r>
            <a:endParaRPr lang="en-US" sz="1000" dirty="0"/>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3577" y="2747888"/>
            <a:ext cx="327273" cy="327273"/>
          </a:xfrm>
          <a:prstGeom prst="rect">
            <a:avLst/>
          </a:prstGeom>
        </p:spPr>
      </p:pic>
      <p:sp>
        <p:nvSpPr>
          <p:cNvPr id="11" name="Text 6"/>
          <p:cNvSpPr/>
          <p:nvPr/>
        </p:nvSpPr>
        <p:spPr>
          <a:xfrm>
            <a:off x="1014487" y="2747888"/>
            <a:ext cx="1673126" cy="19250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Lora" pitchFamily="34" charset="0"/>
                <a:ea typeface="Lora" pitchFamily="34" charset="-122"/>
                <a:cs typeface="Lora" pitchFamily="34" charset="-120"/>
              </a:rPr>
              <a:t>Diseñador de Manuales</a:t>
            </a:r>
            <a:endParaRPr lang="en-US" sz="1200" dirty="0"/>
          </a:p>
        </p:txBody>
      </p:sp>
      <p:sp>
        <p:nvSpPr>
          <p:cNvPr id="12" name="Text 7"/>
          <p:cNvSpPr/>
          <p:nvPr/>
        </p:nvSpPr>
        <p:spPr>
          <a:xfrm>
            <a:off x="1014487" y="3018904"/>
            <a:ext cx="3475658" cy="628204"/>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6E5EF"/>
                </a:solidFill>
                <a:latin typeface="Source Sans 3" pitchFamily="34" charset="0"/>
                <a:ea typeface="Source Sans 3" pitchFamily="34" charset="-122"/>
                <a:cs typeface="Source Sans 3" pitchFamily="34" charset="-120"/>
              </a:rPr>
              <a:t>Crea diagramas, flujos de proceso y materiales visuales que complementan la documentación textual, haciendo el contenido más accesible y comprensible.</a:t>
            </a:r>
            <a:endParaRPr lang="en-US" sz="1000" dirty="0"/>
          </a:p>
        </p:txBody>
      </p:sp>
      <p:pic>
        <p:nvPicPr>
          <p:cNvPr id="1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653781" y="2747888"/>
            <a:ext cx="327273" cy="327273"/>
          </a:xfrm>
          <a:prstGeom prst="rect">
            <a:avLst/>
          </a:prstGeom>
        </p:spPr>
      </p:pic>
      <p:sp>
        <p:nvSpPr>
          <p:cNvPr id="14" name="Text 8"/>
          <p:cNvSpPr/>
          <p:nvPr/>
        </p:nvSpPr>
        <p:spPr>
          <a:xfrm>
            <a:off x="5144691" y="2747888"/>
            <a:ext cx="1540073" cy="19250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Lora" pitchFamily="34" charset="0"/>
                <a:ea typeface="Lora" pitchFamily="34" charset="-122"/>
                <a:cs typeface="Lora" pitchFamily="34" charset="-120"/>
              </a:rPr>
              <a:t>Revisor de Calidad</a:t>
            </a:r>
            <a:endParaRPr lang="en-US" sz="1200" dirty="0"/>
          </a:p>
        </p:txBody>
      </p:sp>
      <p:sp>
        <p:nvSpPr>
          <p:cNvPr id="15" name="Text 9"/>
          <p:cNvSpPr/>
          <p:nvPr/>
        </p:nvSpPr>
        <p:spPr>
          <a:xfrm>
            <a:off x="5144691" y="3018904"/>
            <a:ext cx="3475732" cy="628204"/>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6E5EF"/>
                </a:solidFill>
                <a:latin typeface="Source Sans 3" pitchFamily="34" charset="0"/>
                <a:ea typeface="Source Sans 3" pitchFamily="34" charset="-122"/>
                <a:cs typeface="Source Sans 3" pitchFamily="34" charset="-120"/>
              </a:rPr>
              <a:t>Verifica que la documentación cumpla con los estándares aplicables, detecta inconsistencias y asegura que los documentos estén actualizados con cada versión del sistema.</a:t>
            </a:r>
            <a:endParaRPr lang="en-US" sz="1000" dirty="0"/>
          </a:p>
        </p:txBody>
      </p:sp>
      <p:sp>
        <p:nvSpPr>
          <p:cNvPr id="16" name="Shape 10"/>
          <p:cNvSpPr/>
          <p:nvPr/>
        </p:nvSpPr>
        <p:spPr>
          <a:xfrm>
            <a:off x="523577" y="3794373"/>
            <a:ext cx="8096845" cy="974973"/>
          </a:xfrm>
          <a:prstGeom prst="roundRect">
            <a:avLst>
              <a:gd name="adj" fmla="val 2014"/>
            </a:avLst>
          </a:prstGeom>
          <a:solidFill>
            <a:srgbClr val="49042A"/>
          </a:solidFill>
          <a:ln/>
        </p:spPr>
      </p:sp>
      <p:pic>
        <p:nvPicPr>
          <p:cNvPr id="17" name="Image 4" descr="preencoded.png"/>
          <p:cNvPicPr>
            <a:picLocks noChangeAspect="1"/>
          </p:cNvPicPr>
          <p:nvPr/>
        </p:nvPicPr>
        <p:blipFill>
          <a:blip r:embed="rId11"/>
          <a:stretch>
            <a:fillRect/>
          </a:stretch>
        </p:blipFill>
        <p:spPr>
          <a:xfrm>
            <a:off x="654472" y="3986213"/>
            <a:ext cx="163637" cy="130894"/>
          </a:xfrm>
          <a:prstGeom prst="rect">
            <a:avLst/>
          </a:prstGeom>
        </p:spPr>
      </p:pic>
      <p:sp>
        <p:nvSpPr>
          <p:cNvPr id="18" name="Text 11"/>
          <p:cNvSpPr/>
          <p:nvPr/>
        </p:nvSpPr>
        <p:spPr>
          <a:xfrm>
            <a:off x="949003" y="3957935"/>
            <a:ext cx="7540526" cy="628204"/>
          </a:xfrm>
          <a:prstGeom prst="rect">
            <a:avLst/>
          </a:prstGeom>
          <a:noFill/>
          <a:ln/>
        </p:spPr>
        <p:txBody>
          <a:bodyPr wrap="square" lIns="0" tIns="0" rIns="0" bIns="0" rtlCol="0" anchor="t">
            <a:normAutofit/>
          </a:bodyPr>
          <a:lstStyle/>
          <a:p>
            <a:pPr marL="0" indent="0" algn="l">
              <a:lnSpc>
                <a:spcPct val="133000"/>
              </a:lnSpc>
              <a:buNone/>
            </a:pPr>
            <a:r>
              <a:rPr lang="en-US" sz="1000" b="1" dirty="0">
                <a:solidFill>
                  <a:srgbClr val="FFFFFF"/>
                </a:solidFill>
                <a:latin typeface="Source Sans 3" pitchFamily="34" charset="0"/>
                <a:ea typeface="Source Sans 3" pitchFamily="34" charset="-122"/>
                <a:cs typeface="Source Sans 3" pitchFamily="34" charset="-120"/>
              </a:rPr>
              <a:t>Conclusión:</a:t>
            </a:r>
            <a:r>
              <a:rPr lang="en-US" sz="1000" dirty="0">
                <a:solidFill>
                  <a:srgbClr val="FFFFFF"/>
                </a:solidFill>
                <a:latin typeface="Source Sans 3" pitchFamily="34" charset="0"/>
                <a:ea typeface="Source Sans 3" pitchFamily="34" charset="-122"/>
                <a:cs typeface="Source Sans 3" pitchFamily="34" charset="-120"/>
              </a:rPr>
              <a:t> Los estándares </a:t>
            </a:r>
            <a:r>
              <a:rPr lang="en-US" sz="1000" b="1" dirty="0">
                <a:solidFill>
                  <a:srgbClr val="FFFFFF"/>
                </a:solidFill>
                <a:latin typeface="Source Sans 3" pitchFamily="34" charset="0"/>
                <a:ea typeface="Source Sans 3" pitchFamily="34" charset="-122"/>
                <a:cs typeface="Source Sans 3" pitchFamily="34" charset="-120"/>
              </a:rPr>
              <a:t>IEEE</a:t>
            </a:r>
            <a:r>
              <a:rPr lang="en-US" sz="1000" dirty="0">
                <a:solidFill>
                  <a:srgbClr val="FFFFFF"/>
                </a:solidFill>
                <a:latin typeface="Source Sans 3" pitchFamily="34" charset="0"/>
                <a:ea typeface="Source Sans 3" pitchFamily="34" charset="-122"/>
                <a:cs typeface="Source Sans 3" pitchFamily="34" charset="-120"/>
              </a:rPr>
              <a:t>, </a:t>
            </a:r>
            <a:r>
              <a:rPr lang="en-US" sz="1000" b="1" dirty="0">
                <a:solidFill>
                  <a:srgbClr val="FFFFFF"/>
                </a:solidFill>
                <a:latin typeface="Source Sans 3" pitchFamily="34" charset="0"/>
                <a:ea typeface="Source Sans 3" pitchFamily="34" charset="-122"/>
                <a:cs typeface="Source Sans 3" pitchFamily="34" charset="-120"/>
              </a:rPr>
              <a:t>ISO</a:t>
            </a:r>
            <a:r>
              <a:rPr lang="en-US" sz="1000" dirty="0">
                <a:solidFill>
                  <a:srgbClr val="FFFFFF"/>
                </a:solidFill>
                <a:latin typeface="Source Sans 3" pitchFamily="34" charset="0"/>
                <a:ea typeface="Source Sans 3" pitchFamily="34" charset="-122"/>
                <a:cs typeface="Source Sans 3" pitchFamily="34" charset="-120"/>
              </a:rPr>
              <a:t> y </a:t>
            </a:r>
            <a:r>
              <a:rPr lang="en-US" sz="1000" b="1" dirty="0">
                <a:solidFill>
                  <a:srgbClr val="FFFFFF"/>
                </a:solidFill>
                <a:latin typeface="Source Sans 3" pitchFamily="34" charset="0"/>
                <a:ea typeface="Source Sans 3" pitchFamily="34" charset="-122"/>
                <a:cs typeface="Source Sans 3" pitchFamily="34" charset="-120"/>
              </a:rPr>
              <a:t>W3C</a:t>
            </a:r>
            <a:r>
              <a:rPr lang="en-US" sz="1000" dirty="0">
                <a:solidFill>
                  <a:srgbClr val="FFFFFF"/>
                </a:solidFill>
                <a:latin typeface="Source Sans 3" pitchFamily="34" charset="0"/>
                <a:ea typeface="Source Sans 3" pitchFamily="34" charset="-122"/>
                <a:cs typeface="Source Sans 3" pitchFamily="34" charset="-120"/>
              </a:rPr>
              <a:t> no son simples formalidades: son herramientas poderosas que, aplicadas correctamente, transforman proyectos caóticos en sistemas organizados, seguros y accesibles. Invertir en documentación de calidad es invertir en la sostenibilidad del software a largo plazo.</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503</TotalTime>
  <Words>1627</Words>
  <Application>Microsoft Office PowerPoint</Application>
  <PresentationFormat>Presentación en pantalla (16:9)</PresentationFormat>
  <Paragraphs>142</Paragraphs>
  <Slides>10</Slides>
  <Notes>10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Source Sans 3</vt:lpstr>
      <vt:lpstr>Lora</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Josué Argueta</cp:lastModifiedBy>
  <cp:revision>2</cp:revision>
  <dcterms:created xsi:type="dcterms:W3CDTF">2026-05-26T14:17:48Z</dcterms:created>
  <dcterms:modified xsi:type="dcterms:W3CDTF">2026-05-26T22:42:18Z</dcterms:modified>
</cp:coreProperties>
</file>